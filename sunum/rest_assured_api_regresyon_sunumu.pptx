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9" autoAdjust="0"/>
    <p:restoredTop sz="94610"/>
  </p:normalViewPr>
  <p:slideViewPr>
    <p:cSldViewPr snapToGrid="0" snapToObjects="1">
      <p:cViewPr varScale="1">
        <p:scale>
          <a:sx n="82" d="100"/>
          <a:sy n="82" d="100"/>
        </p:scale>
        <p:origin x="9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9275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bugün Java, Maven, JUnit 5 ve Rest Assured kullanarak hazırladığım API regresyon testi projesini anlatacağım. Önce test mühendisliği ve regresyon testinin amacından bahsedeceğim. Sonrasında proje yapısını, yazdığım GET ve POST testlerini ve çalıştırma sonucunu göstereceğim.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projenin amacı bir API için tekrar çalıştırılabilir otomatik regresyon testleri yazmaktı. Ben servis geliştirmek yerine online ve stabil bir örnek servis olan JSONPlaceholder API kullandım. Böylece odak noktasını servis yazmaya değil, servis davranışını test etmeye verdim. Projede hem GET hem POST isteği var; POST isteğinde request body gönderiliyor. Her iki testte de status code, response body ve cevap süresi kontrol ediliyor.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mühendisliği sadece kod yazıldıktan sonra hata aramak değildir. Gereksinimden tasarıma, kodlamadan yayına kadar kaliteyi sürece dahil eder. Özellikle otomatik testler sayesinde aynı kontroller tekrar tekrar ve tutarlı biçimde çalıştırılabilir. Bu proje de bunun küçük ama pratik bir örneği: API davranışını otomatik olarak doğruluyoruz.</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Regresyon testinin temel sorusu şudur: Bir değişiklik yaptığımızda daha önce çalışan kısımlar bozuldu mu? Bunu manuel olarak sürekli kontrol etmek zor olabilir. Bu yüzden otomatik regresyon testleri önemlidir. Benim projemde API için temel davranışlar otomatik test haline getirildi. Böylece testler her çalıştırıldığında aynı kontroller tekrar uygulanıyor.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testinde aslında servisle konuşuyoruz. Bir endpoint seçiyoruz, request gönderiyoruz ve dönen response değerlerini kontrol ediyoruz. Bu projede önemli üç kontrol var: status code doğru mu, body içindeki alanlar beklenen gibi mi ve servis belirlenen süre sınırının altında cevap veriyor mu? POST testinde ayrıca request body gönderildiği için isteğin içeriği de test kapsamına giriyor.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Projede Java 17 kullanıldı. Maven bağımlılıkları yönetiyor ve mvn test komutu ile testleri çalıştırıyor. JUnit 5 test framework olarak görev yapıyor. Rest Assured API’ye istek atmayı ve dönen cevabı okunabilir şekilde kontrol etmeyi sağlıyor. Jackson ise PostRequest gibi Java nesnelerini JSON body’ye çevirmek için kullanılıyor.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 yapısında kodları tek dosyaya yığmak yerine küçük parçalara ayırdım. ApiConfig ortak sabitleri tutuyor. PostRequest, POST body için kullanılan model sınıfı. BaseApiTest, her testte tekrar etmeyen Rest Assured ayarlarını hazırlıyor. Asıl test senaryoları ise JsonPlaceholderRegressionTest sınıfında yer alıyor.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Assured’in en okunabilir tarafı Given-When-Then yapısıdır. Given kısmında istek öncesi hazırlık yapılır. When kısmında gerçek API isteği gönderilir. Then kısmında ise dönen cevap doğrulanır. Bu format hem testin amacını daha anlaşılır yapıyor hem de sunumda kodu açıklamayı kolaylaştırıyor.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test GET senaryosu. Burada /posts/1 endpointine istek gönderiyorum. Beklentim status code olarak 200 dönmesi. Body içinde id değerinin 1, userId değerinin 1 olması gerekiyor. Title alanının null olmamasını, body alanının da anlamlı uzunlukta olmasını kontrol ediyorum. Ayrıca servis cevap süresinin belirlenen limitin altında olup olmadığını doğruluyorum.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test POST senaryosu. Burada bir PostRequest nesnesi oluşturuyorum. İçinde title, body ve userId var. Rest Assured bu nesneyi JSON body olarak gönderiyor. Dönen cevabın 201 olması bekleniyor. Ayrıca response içinde id alanının gelmesi ve dönen title, body, userId değerlerinin request body ile aynı olması kontrol ediliyor.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Testleri çalıştırmak için proje kök dizininde mvn test komutunu kullanıyorum. Çıktıda iki testin çalıştığını, failure veya error olmadığını görebiliyoruz. Bu sonuçlar Maven Surefire tarafından target/surefire-reports klasörüne de yazılıyor. Derste demo yaparken bu komutu çalıştırıp test sonucunu gösterebilirim.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Ödevde yapay zeka destekli test mühendisliğinden de bahsedilmesi isteniyordu. AI test mühendisine senaryo üretme, test verisi hazırlama, hata çıktısı analiz etme ve otomasyon kodu taslağı oluşturma gibi konularda yardımcı olabilir. Ama burada önemli nokta şu: AI karar verici değil, destekleyici araçtır. Üretilen testler mutlaka gereksinimlere göre gözden geçirilmeli ve gerçek ortamda çalıştırılmalıdır.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Sonuç olarak bu proje, verilen ödev kapsamındaki temel gereksinimleri karşılıyor. Sunumun demo kısmında önce proje klasörünü ve test sınıfını göstereceğim. Ardından terminalde mvn test komutunu çalıştırıp testlerin başarılı geçtiğini göstereceğim. Son olarak GitHub reposunda README, kaynak kod ve sunum dosyasının yer aldığını belirteceğim.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94360" y="6492240"/>
            <a:ext cx="11000232" cy="0"/>
          </a:xfrm>
          <a:prstGeom prst="line">
            <a:avLst/>
          </a:prstGeom>
          <a:noFill/>
          <a:ln w="8890">
            <a:solidFill>
              <a:srgbClr val="D7DEE8"/>
            </a:solidFill>
            <a:prstDash val="solid"/>
          </a:ln>
        </p:spPr>
        <p:txBody>
          <a:bodyPr/>
          <a:lstStyle/>
          <a:p>
            <a:endParaRPr lang="tr-TR"/>
          </a:p>
        </p:txBody>
      </p:sp>
      <p:sp>
        <p:nvSpPr>
          <p:cNvPr id="3" name="Text 1"/>
          <p:cNvSpPr/>
          <p:nvPr/>
        </p:nvSpPr>
        <p:spPr>
          <a:xfrm>
            <a:off x="640080" y="6556248"/>
            <a:ext cx="3931920" cy="164592"/>
          </a:xfrm>
          <a:prstGeom prst="rect">
            <a:avLst/>
          </a:prstGeom>
          <a:noFill/>
          <a:ln/>
        </p:spPr>
        <p:txBody>
          <a:bodyPr wrap="square" lIns="0" tIns="0" rIns="0" bIns="0" rtlCol="0" anchor="ctr"/>
          <a:lstStyle/>
          <a:p>
            <a:pPr marL="0" indent="0">
              <a:buNone/>
            </a:pPr>
            <a:r>
              <a:rPr lang="en-US" sz="750" dirty="0">
                <a:solidFill>
                  <a:srgbClr val="64748B"/>
                </a:solidFill>
              </a:rPr>
              <a:t>Rest Assured API Regresyon Testi</a:t>
            </a:r>
            <a:endParaRPr lang="en-US" sz="750" dirty="0"/>
          </a:p>
        </p:txBody>
      </p:sp>
      <p:sp>
        <p:nvSpPr>
          <p:cNvPr id="4" name="Text 2"/>
          <p:cNvSpPr/>
          <p:nvPr/>
        </p:nvSpPr>
        <p:spPr>
          <a:xfrm>
            <a:off x="8869680" y="6556248"/>
            <a:ext cx="2651760" cy="164592"/>
          </a:xfrm>
          <a:prstGeom prst="rect">
            <a:avLst/>
          </a:prstGeom>
          <a:noFill/>
          <a:ln/>
        </p:spPr>
        <p:txBody>
          <a:bodyPr wrap="square" lIns="0" tIns="0" rIns="0" bIns="0" rtlCol="0" anchor="ctr"/>
          <a:lstStyle/>
          <a:p>
            <a:pPr marL="0" indent="0" algn="r">
              <a:buNone/>
            </a:pPr>
            <a:r>
              <a:rPr lang="en-US" sz="750" dirty="0">
                <a:solidFill>
                  <a:srgbClr val="64748B"/>
                </a:solidFill>
              </a:rPr>
              <a:t>Yazılım Test Mühendisliği</a:t>
            </a:r>
            <a:endParaRPr lang="en-US" sz="75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tr-TR"/>
          </a:p>
        </p:txBody>
      </p:sp>
      <p:sp>
        <p:nvSpPr>
          <p:cNvPr id="3" name="Shape 1"/>
          <p:cNvSpPr/>
          <p:nvPr/>
        </p:nvSpPr>
        <p:spPr>
          <a:xfrm>
            <a:off x="0" y="0"/>
            <a:ext cx="12191695" cy="118872"/>
          </a:xfrm>
          <a:prstGeom prst="rect">
            <a:avLst/>
          </a:prstGeom>
          <a:solidFill>
            <a:srgbClr val="0891B2"/>
          </a:solidFill>
          <a:ln w="12700">
            <a:solidFill>
              <a:srgbClr val="0891B2"/>
            </a:solidFill>
            <a:prstDash val="solid"/>
          </a:ln>
        </p:spPr>
        <p:txBody>
          <a:bodyPr/>
          <a:lstStyle/>
          <a:p>
            <a:endParaRPr lang="tr-TR"/>
          </a:p>
        </p:txBody>
      </p:sp>
      <p:sp>
        <p:nvSpPr>
          <p:cNvPr id="4" name="Text 2"/>
          <p:cNvSpPr/>
          <p:nvPr/>
        </p:nvSpPr>
        <p:spPr>
          <a:xfrm>
            <a:off x="777240" y="1170432"/>
            <a:ext cx="7223760" cy="1234440"/>
          </a:xfrm>
          <a:prstGeom prst="rect">
            <a:avLst/>
          </a:prstGeom>
          <a:noFill/>
          <a:ln/>
        </p:spPr>
        <p:txBody>
          <a:bodyPr wrap="square" lIns="0" tIns="0" rIns="0" bIns="0" rtlCol="0" anchor="ct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Rest Assured ile</a:t>
            </a:r>
            <a:endParaRPr lang="en-US" sz="3600" dirty="0"/>
          </a:p>
          <a:p>
            <a:pPr marL="0" indent="0">
              <a:buNone/>
            </a:pPr>
            <a:r>
              <a:rPr lang="en-US" sz="3600" b="1" dirty="0">
                <a:solidFill>
                  <a:srgbClr val="FFFFFF"/>
                </a:solidFill>
                <a:latin typeface="Aptos Display" pitchFamily="34" charset="0"/>
                <a:ea typeface="Aptos Display" pitchFamily="34" charset="-122"/>
                <a:cs typeface="Aptos Display" pitchFamily="34" charset="-120"/>
              </a:rPr>
              <a:t>API Regresyon Testi</a:t>
            </a:r>
            <a:endParaRPr lang="en-US" sz="3600" dirty="0"/>
          </a:p>
        </p:txBody>
      </p:sp>
      <p:sp>
        <p:nvSpPr>
          <p:cNvPr id="5" name="Text 3"/>
          <p:cNvSpPr/>
          <p:nvPr/>
        </p:nvSpPr>
        <p:spPr>
          <a:xfrm>
            <a:off x="804672" y="2697480"/>
            <a:ext cx="5212080" cy="301752"/>
          </a:xfrm>
          <a:prstGeom prst="rect">
            <a:avLst/>
          </a:prstGeom>
          <a:noFill/>
          <a:ln/>
        </p:spPr>
        <p:txBody>
          <a:bodyPr wrap="square" lIns="0" tIns="0" rIns="0" bIns="0" rtlCol="0" anchor="ctr"/>
          <a:lstStyle/>
          <a:p>
            <a:pPr marL="0" indent="0">
              <a:buNone/>
            </a:pPr>
            <a:r>
              <a:rPr lang="en-US" sz="1600" dirty="0">
                <a:solidFill>
                  <a:srgbClr val="BAE6FD"/>
                </a:solidFill>
              </a:rPr>
              <a:t>Java · Maven · JUnit 5 · Rest Assured</a:t>
            </a:r>
            <a:endParaRPr lang="en-US" sz="1600" dirty="0"/>
          </a:p>
        </p:txBody>
      </p:sp>
      <p:sp>
        <p:nvSpPr>
          <p:cNvPr id="6" name="Text 4"/>
          <p:cNvSpPr/>
          <p:nvPr/>
        </p:nvSpPr>
        <p:spPr>
          <a:xfrm>
            <a:off x="822960" y="3310128"/>
            <a:ext cx="4526280" cy="420624"/>
          </a:xfrm>
          <a:prstGeom prst="rect">
            <a:avLst/>
          </a:prstGeom>
          <a:solidFill>
            <a:srgbClr val="1E293B"/>
          </a:solidFill>
          <a:ln>
            <a:solidFill>
              <a:srgbClr val="334155"/>
            </a:solidFill>
          </a:ln>
        </p:spPr>
        <p:txBody>
          <a:bodyPr wrap="square" lIns="508" tIns="508" rIns="508" bIns="508" rtlCol="0" anchor="ctr"/>
          <a:lstStyle/>
          <a:p>
            <a:pPr marL="0" indent="0" algn="ctr">
              <a:buNone/>
            </a:pPr>
            <a:r>
              <a:rPr lang="en-US" sz="1300" b="1" dirty="0">
                <a:solidFill>
                  <a:srgbClr val="FFFFFF"/>
                </a:solidFill>
              </a:rPr>
              <a:t>Yazılım Test Mühendisliği Proje Sunumu</a:t>
            </a:r>
            <a:endParaRPr lang="en-US" sz="1300" dirty="0"/>
          </a:p>
        </p:txBody>
      </p:sp>
      <p:sp>
        <p:nvSpPr>
          <p:cNvPr id="7" name="Text 5"/>
          <p:cNvSpPr/>
          <p:nvPr/>
        </p:nvSpPr>
        <p:spPr>
          <a:xfrm>
            <a:off x="822960" y="5742432"/>
            <a:ext cx="3291840" cy="228600"/>
          </a:xfrm>
          <a:prstGeom prst="rect">
            <a:avLst/>
          </a:prstGeom>
          <a:noFill/>
          <a:ln/>
        </p:spPr>
        <p:txBody>
          <a:bodyPr wrap="square" lIns="0" tIns="0" rIns="0" bIns="0" rtlCol="0" anchor="ctr"/>
          <a:lstStyle/>
          <a:p>
            <a:pPr marL="0" indent="0">
              <a:buNone/>
            </a:pPr>
            <a:r>
              <a:rPr lang="en-US" sz="1200" dirty="0">
                <a:solidFill>
                  <a:srgbClr val="CBD5E1"/>
                </a:solidFill>
              </a:rPr>
              <a:t>Hazırlayan: Eren Özer</a:t>
            </a:r>
            <a:endParaRPr lang="tr-TR" sz="1200" dirty="0">
              <a:solidFill>
                <a:srgbClr val="CBD5E1"/>
              </a:solidFill>
            </a:endParaRPr>
          </a:p>
          <a:p>
            <a:pPr marL="0" indent="0">
              <a:buNone/>
            </a:pPr>
            <a:r>
              <a:rPr lang="tr-TR" sz="1200" dirty="0">
                <a:solidFill>
                  <a:srgbClr val="CBD5E1"/>
                </a:solidFill>
              </a:rPr>
              <a:t>Bursa Teknik Üniversitesi</a:t>
            </a:r>
            <a:br>
              <a:rPr lang="tr-TR" sz="1200" dirty="0">
                <a:solidFill>
                  <a:srgbClr val="CBD5E1"/>
                </a:solidFill>
              </a:rPr>
            </a:br>
            <a:r>
              <a:rPr lang="tr-TR" sz="1200" dirty="0">
                <a:solidFill>
                  <a:srgbClr val="CBD5E1"/>
                </a:solidFill>
              </a:rPr>
              <a:t>No : 22360859030</a:t>
            </a:r>
          </a:p>
          <a:p>
            <a:r>
              <a:rPr lang="tr-TR" sz="1200" dirty="0" err="1">
                <a:solidFill>
                  <a:srgbClr val="CBD5E1"/>
                </a:solidFill>
              </a:rPr>
              <a:t>Github</a:t>
            </a:r>
            <a:r>
              <a:rPr lang="tr-TR" sz="1200" dirty="0">
                <a:solidFill>
                  <a:srgbClr val="CBD5E1"/>
                </a:solidFill>
              </a:rPr>
              <a:t> : https://github.com/Eren0zer/rest-assured-api-regression-test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21792" y="420624"/>
            <a:ext cx="8412480" cy="384048"/>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Projenin Amacı</a:t>
            </a:r>
            <a:endParaRPr lang="en-US" sz="2500" dirty="0"/>
          </a:p>
        </p:txBody>
      </p:sp>
      <p:sp>
        <p:nvSpPr>
          <p:cNvPr id="3" name="Text 1"/>
          <p:cNvSpPr/>
          <p:nvPr/>
        </p:nvSpPr>
        <p:spPr>
          <a:xfrm>
            <a:off x="640080" y="868680"/>
            <a:ext cx="9326880" cy="237744"/>
          </a:xfrm>
          <a:prstGeom prst="rect">
            <a:avLst/>
          </a:prstGeom>
          <a:noFill/>
          <a:ln/>
        </p:spPr>
        <p:txBody>
          <a:bodyPr wrap="square" lIns="0" tIns="0" rIns="0" bIns="0" rtlCol="0" anchor="ctr"/>
          <a:lstStyle/>
          <a:p>
            <a:pPr marL="0" indent="0">
              <a:buNone/>
            </a:pPr>
            <a:r>
              <a:rPr lang="tr-TR" sz="1080" dirty="0">
                <a:solidFill>
                  <a:srgbClr val="64748B"/>
                </a:solidFill>
              </a:rPr>
              <a:t>Ç</a:t>
            </a:r>
            <a:r>
              <a:rPr lang="en-US" sz="1080" dirty="0" err="1">
                <a:solidFill>
                  <a:srgbClr val="64748B"/>
                </a:solidFill>
              </a:rPr>
              <a:t>alışan</a:t>
            </a:r>
            <a:r>
              <a:rPr lang="en-US" sz="1080" dirty="0">
                <a:solidFill>
                  <a:srgbClr val="64748B"/>
                </a:solidFill>
              </a:rPr>
              <a:t> bir API test otomasyonu projesine dönüştürmek</a:t>
            </a:r>
            <a:endParaRPr lang="en-US" sz="1080" dirty="0"/>
          </a:p>
        </p:txBody>
      </p:sp>
      <p:sp>
        <p:nvSpPr>
          <p:cNvPr id="4" name="Text 2"/>
          <p:cNvSpPr/>
          <p:nvPr/>
        </p:nvSpPr>
        <p:spPr>
          <a:xfrm>
            <a:off x="731520" y="1417320"/>
            <a:ext cx="3383280" cy="35204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Bir REST servis için otomatik regresyon testleri hazırlamak ve Maven üzerinden çalıştırılabilir hale getirmek.</a:t>
            </a:r>
            <a:endParaRPr lang="en-US" sz="1250" dirty="0"/>
          </a:p>
        </p:txBody>
      </p:sp>
      <p:sp>
        <p:nvSpPr>
          <p:cNvPr id="5" name="Text 3"/>
          <p:cNvSpPr/>
          <p:nvPr/>
        </p:nvSpPr>
        <p:spPr>
          <a:xfrm>
            <a:off x="850392" y="1536192"/>
            <a:ext cx="3145536" cy="210312"/>
          </a:xfrm>
          <a:prstGeom prst="rect">
            <a:avLst/>
          </a:prstGeom>
          <a:noFill/>
          <a:ln/>
        </p:spPr>
        <p:txBody>
          <a:bodyPr wrap="square" lIns="0" tIns="0" rIns="0" bIns="0" rtlCol="0" anchor="ctr">
            <a:normAutofit/>
          </a:bodyPr>
          <a:lstStyle/>
          <a:p>
            <a:pPr marL="0" indent="0">
              <a:buNone/>
            </a:pPr>
            <a:r>
              <a:rPr lang="en-US" sz="1280" b="1" dirty="0">
                <a:solidFill>
                  <a:srgbClr val="2563EB"/>
                </a:solidFill>
              </a:rPr>
              <a:t>Hedef</a:t>
            </a:r>
            <a:endParaRPr lang="en-US" sz="1280" dirty="0"/>
          </a:p>
        </p:txBody>
      </p:sp>
      <p:sp>
        <p:nvSpPr>
          <p:cNvPr id="6" name="Text 4"/>
          <p:cNvSpPr/>
          <p:nvPr/>
        </p:nvSpPr>
        <p:spPr>
          <a:xfrm>
            <a:off x="4434840" y="1417320"/>
            <a:ext cx="3383280" cy="35204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err="1">
                <a:solidFill>
                  <a:srgbClr val="475569"/>
                </a:solidFill>
              </a:rPr>
              <a:t>JSONPlaceholder</a:t>
            </a:r>
            <a:r>
              <a:rPr lang="en-US" sz="1250" dirty="0">
                <a:solidFill>
                  <a:srgbClr val="475569"/>
                </a:solidFill>
              </a:rPr>
              <a:t> API üzerinde GET ve POST senaryoları yazıldı. POST senaryosunda JSON request body kullanıldı.</a:t>
            </a:r>
            <a:endParaRPr lang="en-US" sz="1250" dirty="0"/>
          </a:p>
        </p:txBody>
      </p:sp>
      <p:sp>
        <p:nvSpPr>
          <p:cNvPr id="7" name="Text 5"/>
          <p:cNvSpPr/>
          <p:nvPr/>
        </p:nvSpPr>
        <p:spPr>
          <a:xfrm>
            <a:off x="4553712" y="1536192"/>
            <a:ext cx="3145536" cy="210312"/>
          </a:xfrm>
          <a:prstGeom prst="rect">
            <a:avLst/>
          </a:prstGeom>
          <a:noFill/>
          <a:ln/>
        </p:spPr>
        <p:txBody>
          <a:bodyPr wrap="square" lIns="0" tIns="0" rIns="0" bIns="0" rtlCol="0" anchor="ctr">
            <a:normAutofit/>
          </a:bodyPr>
          <a:lstStyle/>
          <a:p>
            <a:pPr marL="0" indent="0">
              <a:buNone/>
            </a:pPr>
            <a:r>
              <a:rPr lang="en-US" sz="1280" b="1" dirty="0">
                <a:solidFill>
                  <a:srgbClr val="0D9488"/>
                </a:solidFill>
              </a:rPr>
              <a:t>Kapsam</a:t>
            </a:r>
            <a:endParaRPr lang="en-US" sz="1280" dirty="0"/>
          </a:p>
        </p:txBody>
      </p:sp>
      <p:sp>
        <p:nvSpPr>
          <p:cNvPr id="8" name="Text 6"/>
          <p:cNvSpPr/>
          <p:nvPr/>
        </p:nvSpPr>
        <p:spPr>
          <a:xfrm>
            <a:off x="8138160" y="1417320"/>
            <a:ext cx="3383280" cy="35204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Status code, response body ve response time kontrolleri Rest Assured ile otomatik doğrulandı.</a:t>
            </a:r>
            <a:endParaRPr lang="en-US" sz="1250" dirty="0"/>
          </a:p>
        </p:txBody>
      </p:sp>
      <p:sp>
        <p:nvSpPr>
          <p:cNvPr id="9" name="Text 7"/>
          <p:cNvSpPr/>
          <p:nvPr/>
        </p:nvSpPr>
        <p:spPr>
          <a:xfrm>
            <a:off x="8257032" y="1536192"/>
            <a:ext cx="3145536" cy="210312"/>
          </a:xfrm>
          <a:prstGeom prst="rect">
            <a:avLst/>
          </a:prstGeom>
          <a:noFill/>
          <a:ln/>
        </p:spPr>
        <p:txBody>
          <a:bodyPr wrap="square" lIns="0" tIns="0" rIns="0" bIns="0" rtlCol="0" anchor="ctr">
            <a:normAutofit/>
          </a:bodyPr>
          <a:lstStyle/>
          <a:p>
            <a:pPr marL="0" indent="0">
              <a:buNone/>
            </a:pPr>
            <a:r>
              <a:rPr lang="en-US" sz="1280" b="1" dirty="0">
                <a:solidFill>
                  <a:srgbClr val="7C3AED"/>
                </a:solidFill>
              </a:rPr>
              <a:t>Doğrulama</a:t>
            </a:r>
            <a:endParaRPr lang="en-US" sz="1280" dirty="0"/>
          </a:p>
        </p:txBody>
      </p:sp>
      <p:sp>
        <p:nvSpPr>
          <p:cNvPr id="10" name="Text 8"/>
          <p:cNvSpPr/>
          <p:nvPr/>
        </p:nvSpPr>
        <p:spPr>
          <a:xfrm>
            <a:off x="1737360" y="5349240"/>
            <a:ext cx="1508760" cy="310896"/>
          </a:xfrm>
          <a:prstGeom prst="rect">
            <a:avLst/>
          </a:prstGeom>
          <a:solidFill>
            <a:srgbClr val="DBEAFE"/>
          </a:solidFill>
          <a:ln>
            <a:solidFill>
              <a:srgbClr val="DBEAFE"/>
            </a:solidFill>
          </a:ln>
        </p:spPr>
        <p:txBody>
          <a:bodyPr wrap="square" lIns="254" tIns="254" rIns="254" bIns="254" rtlCol="0" anchor="ctr"/>
          <a:lstStyle/>
          <a:p>
            <a:pPr marL="0" indent="0" algn="ctr">
              <a:buNone/>
            </a:pPr>
            <a:r>
              <a:rPr lang="en-US" sz="1100" b="1" dirty="0">
                <a:solidFill>
                  <a:srgbClr val="2563EB"/>
                </a:solidFill>
              </a:rPr>
              <a:t>GET /posts/1</a:t>
            </a:r>
            <a:endParaRPr lang="en-US" sz="1100" dirty="0"/>
          </a:p>
        </p:txBody>
      </p:sp>
      <p:sp>
        <p:nvSpPr>
          <p:cNvPr id="11" name="Text 9"/>
          <p:cNvSpPr/>
          <p:nvPr/>
        </p:nvSpPr>
        <p:spPr>
          <a:xfrm>
            <a:off x="5394960" y="5349240"/>
            <a:ext cx="1417320" cy="310896"/>
          </a:xfrm>
          <a:prstGeom prst="rect">
            <a:avLst/>
          </a:prstGeom>
          <a:solidFill>
            <a:srgbClr val="CCFBF1"/>
          </a:solidFill>
          <a:ln>
            <a:solidFill>
              <a:srgbClr val="CCFBF1"/>
            </a:solidFill>
          </a:ln>
        </p:spPr>
        <p:txBody>
          <a:bodyPr wrap="square" lIns="254" tIns="254" rIns="254" bIns="254" rtlCol="0" anchor="ctr"/>
          <a:lstStyle/>
          <a:p>
            <a:pPr marL="0" indent="0" algn="ctr">
              <a:buNone/>
            </a:pPr>
            <a:r>
              <a:rPr lang="en-US" sz="1100" b="1" dirty="0">
                <a:solidFill>
                  <a:srgbClr val="0D9488"/>
                </a:solidFill>
              </a:rPr>
              <a:t>POST /posts</a:t>
            </a:r>
            <a:endParaRPr lang="en-US" sz="1100" dirty="0"/>
          </a:p>
        </p:txBody>
      </p:sp>
      <p:sp>
        <p:nvSpPr>
          <p:cNvPr id="12" name="Text 10"/>
          <p:cNvSpPr/>
          <p:nvPr/>
        </p:nvSpPr>
        <p:spPr>
          <a:xfrm>
            <a:off x="8915400" y="5349240"/>
            <a:ext cx="1508760" cy="310896"/>
          </a:xfrm>
          <a:prstGeom prst="rect">
            <a:avLst/>
          </a:prstGeom>
          <a:solidFill>
            <a:srgbClr val="DCFCE7"/>
          </a:solidFill>
          <a:ln>
            <a:solidFill>
              <a:srgbClr val="DCFCE7"/>
            </a:solidFill>
          </a:ln>
        </p:spPr>
        <p:txBody>
          <a:bodyPr wrap="square" lIns="254" tIns="254" rIns="254" bIns="254" rtlCol="0" anchor="ctr"/>
          <a:lstStyle/>
          <a:p>
            <a:pPr marL="0" indent="0" algn="ctr">
              <a:buNone/>
            </a:pPr>
            <a:r>
              <a:rPr lang="en-US" sz="1100" b="1" dirty="0">
                <a:solidFill>
                  <a:srgbClr val="16A34A"/>
                </a:solidFill>
              </a:rPr>
              <a:t>2 test · 0 hata</a:t>
            </a:r>
            <a:endParaRPr lang="en-US" sz="110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21792" y="420624"/>
            <a:ext cx="8412480" cy="384048"/>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Yazılım Test Mühendisliği</a:t>
            </a:r>
            <a:endParaRPr lang="en-US" sz="2500" dirty="0"/>
          </a:p>
        </p:txBody>
      </p:sp>
      <p:sp>
        <p:nvSpPr>
          <p:cNvPr id="3" name="Text 1"/>
          <p:cNvSpPr/>
          <p:nvPr/>
        </p:nvSpPr>
        <p:spPr>
          <a:xfrm>
            <a:off x="640080" y="868680"/>
            <a:ext cx="9326880" cy="237744"/>
          </a:xfrm>
          <a:prstGeom prst="rect">
            <a:avLst/>
          </a:prstGeom>
          <a:noFill/>
          <a:ln/>
        </p:spPr>
        <p:txBody>
          <a:bodyPr wrap="square" lIns="0" tIns="0" rIns="0" bIns="0" rtlCol="0" anchor="ctr"/>
          <a:lstStyle/>
          <a:p>
            <a:pPr marL="0" indent="0">
              <a:buNone/>
            </a:pPr>
            <a:r>
              <a:rPr lang="en-US" sz="1080" dirty="0">
                <a:solidFill>
                  <a:srgbClr val="64748B"/>
                </a:solidFill>
              </a:rPr>
              <a:t>Kaliteyi sadece sona bırakmadan geliştirme sürecinin parçası haline getirmek</a:t>
            </a:r>
            <a:endParaRPr lang="en-US" sz="1080" dirty="0"/>
          </a:p>
        </p:txBody>
      </p:sp>
      <p:sp>
        <p:nvSpPr>
          <p:cNvPr id="4" name="Text 2"/>
          <p:cNvSpPr/>
          <p:nvPr/>
        </p:nvSpPr>
        <p:spPr>
          <a:xfrm>
            <a:off x="749808" y="1601863"/>
            <a:ext cx="5715000" cy="566928"/>
          </a:xfrm>
          <a:prstGeom prst="rect">
            <a:avLst/>
          </a:prstGeom>
          <a:noFill/>
          <a:ln/>
        </p:spPr>
        <p:txBody>
          <a:bodyPr wrap="square" lIns="635" tIns="635" rIns="635" bIns="635" rtlCol="0" anchor="t">
            <a:normAutofit fontScale="92500"/>
          </a:bodyPr>
          <a:lstStyle/>
          <a:p>
            <a:pPr marL="0" indent="0" algn="l">
              <a:buNone/>
            </a:pPr>
            <a:r>
              <a:rPr lang="en-US" sz="1650" dirty="0">
                <a:solidFill>
                  <a:srgbClr val="0F172A"/>
                </a:solidFill>
              </a:rPr>
              <a:t>Yazılım test mühendisliği, yazılımın beklenen davranışı sağlayıp sağlamadığını sistematik şekilde doğrulayan mühendislik disiplinidir.</a:t>
            </a:r>
            <a:endParaRPr lang="en-US" sz="1650" dirty="0"/>
          </a:p>
        </p:txBody>
      </p:sp>
      <p:sp>
        <p:nvSpPr>
          <p:cNvPr id="5" name="Text 3"/>
          <p:cNvSpPr/>
          <p:nvPr/>
        </p:nvSpPr>
        <p:spPr>
          <a:xfrm>
            <a:off x="731520" y="2148840"/>
            <a:ext cx="5257800" cy="2011680"/>
          </a:xfrm>
          <a:prstGeom prst="rect">
            <a:avLst/>
          </a:prstGeom>
          <a:noFill/>
          <a:ln/>
        </p:spPr>
        <p:txBody>
          <a:bodyPr wrap="square" lIns="635" tIns="635" rIns="635" bIns="635" rtlCol="0" anchor="ctr">
            <a:normAutofit/>
          </a:bodyPr>
          <a:lstStyle/>
          <a:p>
            <a:pPr marL="285750" indent="-285750">
              <a:buFont typeface="Arial" panose="020B0604020202020204" pitchFamily="34" charset="0"/>
              <a:buChar char="•"/>
            </a:pPr>
            <a:r>
              <a:rPr lang="en-US" sz="1500" dirty="0">
                <a:solidFill>
                  <a:srgbClr val="475569"/>
                </a:solidFill>
              </a:rPr>
              <a:t>Hataları erken aşamada yakalar.</a:t>
            </a:r>
            <a:endParaRPr lang="en-US" sz="1500" dirty="0"/>
          </a:p>
          <a:p>
            <a:pPr marL="285750" indent="-285750">
              <a:buFont typeface="Arial" panose="020B0604020202020204" pitchFamily="34" charset="0"/>
              <a:buChar char="•"/>
            </a:pPr>
            <a:r>
              <a:rPr lang="en-US" sz="1500" dirty="0">
                <a:solidFill>
                  <a:srgbClr val="475569"/>
                </a:solidFill>
              </a:rPr>
              <a:t>Ürün kalitesini ve güvenilirliği artırır.</a:t>
            </a:r>
            <a:endParaRPr lang="en-US" sz="1500" dirty="0"/>
          </a:p>
          <a:p>
            <a:pPr marL="285750" indent="-285750">
              <a:buFont typeface="Arial" panose="020B0604020202020204" pitchFamily="34" charset="0"/>
              <a:buChar char="•"/>
            </a:pPr>
            <a:r>
              <a:rPr lang="en-US" sz="1500" dirty="0">
                <a:solidFill>
                  <a:srgbClr val="475569"/>
                </a:solidFill>
              </a:rPr>
              <a:t>Yayın süreçlerinde riskleri azaltır.</a:t>
            </a:r>
            <a:endParaRPr lang="en-US" sz="1500" dirty="0"/>
          </a:p>
          <a:p>
            <a:pPr marL="285750" indent="-285750">
              <a:buFont typeface="Arial" panose="020B0604020202020204" pitchFamily="34" charset="0"/>
              <a:buChar char="•"/>
            </a:pPr>
            <a:r>
              <a:rPr lang="en-US" sz="1500" dirty="0">
                <a:solidFill>
                  <a:srgbClr val="475569"/>
                </a:solidFill>
              </a:rPr>
              <a:t>Manuel tekrar yükünü otomasyonla düşürür.</a:t>
            </a:r>
            <a:endParaRPr lang="en-US" sz="1500" dirty="0"/>
          </a:p>
        </p:txBody>
      </p:sp>
      <p:sp>
        <p:nvSpPr>
          <p:cNvPr id="6" name="Text 4"/>
          <p:cNvSpPr/>
          <p:nvPr/>
        </p:nvSpPr>
        <p:spPr>
          <a:xfrm>
            <a:off x="6830568" y="2249424"/>
            <a:ext cx="1143000" cy="310896"/>
          </a:xfrm>
          <a:prstGeom prst="rect">
            <a:avLst/>
          </a:prstGeom>
          <a:solidFill>
            <a:srgbClr val="DBEAFE"/>
          </a:solidFill>
          <a:ln>
            <a:solidFill>
              <a:srgbClr val="DBEAFE"/>
            </a:solidFill>
          </a:ln>
        </p:spPr>
        <p:txBody>
          <a:bodyPr wrap="square" lIns="254" tIns="254" rIns="254" bIns="254" rtlCol="0" anchor="ctr"/>
          <a:lstStyle/>
          <a:p>
            <a:pPr marL="0" indent="0" algn="ctr">
              <a:buNone/>
            </a:pPr>
            <a:r>
              <a:rPr lang="en-US" sz="1050" b="1" dirty="0">
                <a:solidFill>
                  <a:srgbClr val="2563EB"/>
                </a:solidFill>
              </a:rPr>
              <a:t>Gereksinim</a:t>
            </a:r>
            <a:endParaRPr lang="en-US" sz="1050" dirty="0"/>
          </a:p>
        </p:txBody>
      </p:sp>
      <p:sp>
        <p:nvSpPr>
          <p:cNvPr id="7" name="Text 5"/>
          <p:cNvSpPr/>
          <p:nvPr/>
        </p:nvSpPr>
        <p:spPr>
          <a:xfrm>
            <a:off x="8444484" y="2814689"/>
            <a:ext cx="1143000" cy="310896"/>
          </a:xfrm>
          <a:prstGeom prst="rect">
            <a:avLst/>
          </a:prstGeom>
          <a:solidFill>
            <a:srgbClr val="CFFAFE"/>
          </a:solidFill>
          <a:ln>
            <a:solidFill>
              <a:srgbClr val="CFFAFE"/>
            </a:solidFill>
          </a:ln>
        </p:spPr>
        <p:txBody>
          <a:bodyPr wrap="square" lIns="254" tIns="254" rIns="254" bIns="254" rtlCol="0" anchor="ctr"/>
          <a:lstStyle/>
          <a:p>
            <a:pPr marL="0" indent="0" algn="ctr">
              <a:buNone/>
            </a:pPr>
            <a:r>
              <a:rPr lang="en-US" sz="1050" b="1" dirty="0">
                <a:solidFill>
                  <a:srgbClr val="0891B2"/>
                </a:solidFill>
              </a:rPr>
              <a:t>Tasarım</a:t>
            </a:r>
            <a:endParaRPr lang="en-US" sz="1050" dirty="0"/>
          </a:p>
        </p:txBody>
      </p:sp>
      <p:sp>
        <p:nvSpPr>
          <p:cNvPr id="8" name="Text 6"/>
          <p:cNvSpPr/>
          <p:nvPr/>
        </p:nvSpPr>
        <p:spPr>
          <a:xfrm>
            <a:off x="9921240" y="2249424"/>
            <a:ext cx="1143000" cy="310896"/>
          </a:xfrm>
          <a:prstGeom prst="rect">
            <a:avLst/>
          </a:prstGeom>
          <a:solidFill>
            <a:srgbClr val="CCFBF1"/>
          </a:solidFill>
          <a:ln>
            <a:solidFill>
              <a:srgbClr val="CCFBF1"/>
            </a:solidFill>
          </a:ln>
        </p:spPr>
        <p:txBody>
          <a:bodyPr wrap="square" lIns="254" tIns="254" rIns="254" bIns="254" rtlCol="0" anchor="ctr"/>
          <a:lstStyle/>
          <a:p>
            <a:pPr marL="0" indent="0" algn="ctr">
              <a:buNone/>
            </a:pPr>
            <a:r>
              <a:rPr lang="en-US" sz="1050" b="1" dirty="0">
                <a:solidFill>
                  <a:srgbClr val="0D9488"/>
                </a:solidFill>
              </a:rPr>
              <a:t>Kodlama</a:t>
            </a:r>
            <a:endParaRPr lang="en-US" sz="1050" dirty="0"/>
          </a:p>
        </p:txBody>
      </p:sp>
      <p:sp>
        <p:nvSpPr>
          <p:cNvPr id="9" name="Text 7"/>
          <p:cNvSpPr/>
          <p:nvPr/>
        </p:nvSpPr>
        <p:spPr>
          <a:xfrm>
            <a:off x="8444484" y="3808476"/>
            <a:ext cx="1143000" cy="310896"/>
          </a:xfrm>
          <a:prstGeom prst="rect">
            <a:avLst/>
          </a:prstGeom>
          <a:solidFill>
            <a:srgbClr val="EDE9FE"/>
          </a:solidFill>
          <a:ln>
            <a:solidFill>
              <a:srgbClr val="EDE9FE"/>
            </a:solidFill>
          </a:ln>
        </p:spPr>
        <p:txBody>
          <a:bodyPr wrap="square" lIns="254" tIns="254" rIns="254" bIns="254" rtlCol="0" anchor="ctr"/>
          <a:lstStyle/>
          <a:p>
            <a:pPr marL="0" indent="0" algn="ctr">
              <a:buNone/>
            </a:pPr>
            <a:r>
              <a:rPr lang="en-US" sz="1050" b="1" dirty="0">
                <a:solidFill>
                  <a:srgbClr val="7C3AED"/>
                </a:solidFill>
              </a:rPr>
              <a:t>Test</a:t>
            </a:r>
            <a:endParaRPr lang="en-US" sz="1050" dirty="0"/>
          </a:p>
        </p:txBody>
      </p:sp>
      <p:sp>
        <p:nvSpPr>
          <p:cNvPr id="10" name="Text 8"/>
          <p:cNvSpPr/>
          <p:nvPr/>
        </p:nvSpPr>
        <p:spPr>
          <a:xfrm>
            <a:off x="6830568" y="4219956"/>
            <a:ext cx="1143000" cy="310896"/>
          </a:xfrm>
          <a:prstGeom prst="rect">
            <a:avLst/>
          </a:prstGeom>
          <a:solidFill>
            <a:srgbClr val="DCFCE7"/>
          </a:solidFill>
          <a:ln>
            <a:solidFill>
              <a:srgbClr val="DCFCE7"/>
            </a:solidFill>
          </a:ln>
        </p:spPr>
        <p:txBody>
          <a:bodyPr wrap="square" lIns="254" tIns="254" rIns="254" bIns="254" rtlCol="0" anchor="ctr"/>
          <a:lstStyle/>
          <a:p>
            <a:pPr marL="0" indent="0" algn="ctr">
              <a:buNone/>
            </a:pPr>
            <a:r>
              <a:rPr lang="en-US" sz="1050" b="1" dirty="0">
                <a:solidFill>
                  <a:srgbClr val="16A34A"/>
                </a:solidFill>
              </a:rPr>
              <a:t>İyileştirme</a:t>
            </a:r>
            <a:endParaRPr lang="en-US" sz="1050" dirty="0"/>
          </a:p>
        </p:txBody>
      </p:sp>
      <p:sp>
        <p:nvSpPr>
          <p:cNvPr id="11" name="Shape 9"/>
          <p:cNvSpPr/>
          <p:nvPr/>
        </p:nvSpPr>
        <p:spPr>
          <a:xfrm>
            <a:off x="7973568" y="2404872"/>
            <a:ext cx="470916" cy="585216"/>
          </a:xfrm>
          <a:prstGeom prst="line">
            <a:avLst/>
          </a:prstGeom>
          <a:noFill/>
          <a:ln w="17780">
            <a:solidFill>
              <a:srgbClr val="93A4B8"/>
            </a:solidFill>
            <a:prstDash val="solid"/>
            <a:tailEnd type="triangle"/>
          </a:ln>
        </p:spPr>
        <p:txBody>
          <a:bodyPr/>
          <a:lstStyle/>
          <a:p>
            <a:endParaRPr lang="tr-TR" sz="2800"/>
          </a:p>
        </p:txBody>
      </p:sp>
      <p:sp>
        <p:nvSpPr>
          <p:cNvPr id="12" name="Shape 10"/>
          <p:cNvSpPr/>
          <p:nvPr/>
        </p:nvSpPr>
        <p:spPr>
          <a:xfrm flipV="1">
            <a:off x="9577093" y="2407781"/>
            <a:ext cx="344147" cy="577735"/>
          </a:xfrm>
          <a:prstGeom prst="line">
            <a:avLst/>
          </a:prstGeom>
          <a:noFill/>
          <a:ln w="17780">
            <a:solidFill>
              <a:srgbClr val="93A4B8"/>
            </a:solidFill>
            <a:prstDash val="solid"/>
            <a:tailEnd type="triangle"/>
          </a:ln>
        </p:spPr>
        <p:txBody>
          <a:bodyPr/>
          <a:lstStyle/>
          <a:p>
            <a:endParaRPr lang="tr-TR" sz="2800"/>
          </a:p>
        </p:txBody>
      </p:sp>
      <p:sp>
        <p:nvSpPr>
          <p:cNvPr id="13" name="Shape 11"/>
          <p:cNvSpPr/>
          <p:nvPr/>
        </p:nvSpPr>
        <p:spPr>
          <a:xfrm>
            <a:off x="10478193" y="2560320"/>
            <a:ext cx="0" cy="1659636"/>
          </a:xfrm>
          <a:prstGeom prst="line">
            <a:avLst/>
          </a:prstGeom>
          <a:noFill/>
          <a:ln w="17780">
            <a:solidFill>
              <a:srgbClr val="93A4B8"/>
            </a:solidFill>
            <a:prstDash val="solid"/>
            <a:tailEnd type="triangle"/>
          </a:ln>
        </p:spPr>
        <p:txBody>
          <a:bodyPr/>
          <a:lstStyle/>
          <a:p>
            <a:endParaRPr lang="tr-TR" sz="2800"/>
          </a:p>
        </p:txBody>
      </p:sp>
      <p:sp>
        <p:nvSpPr>
          <p:cNvPr id="16" name="Text 14"/>
          <p:cNvSpPr/>
          <p:nvPr/>
        </p:nvSpPr>
        <p:spPr>
          <a:xfrm>
            <a:off x="6812280" y="4937760"/>
            <a:ext cx="4251960" cy="502920"/>
          </a:xfrm>
          <a:prstGeom prst="rect">
            <a:avLst/>
          </a:prstGeom>
          <a:noFill/>
          <a:ln/>
        </p:spPr>
        <p:txBody>
          <a:bodyPr wrap="square" lIns="635" tIns="635" rIns="635" bIns="635" rtlCol="0" anchor="t">
            <a:normAutofit/>
          </a:bodyPr>
          <a:lstStyle/>
          <a:p>
            <a:pPr marL="0" indent="0" algn="ctr">
              <a:buNone/>
            </a:pPr>
            <a:r>
              <a:rPr lang="en-US" sz="1320" dirty="0">
                <a:solidFill>
                  <a:srgbClr val="0F172A"/>
                </a:solidFill>
              </a:rPr>
              <a:t>Otomasyon, bu döngüde hızlı ve tekrarlanabilir geri bildirim sağlar.</a:t>
            </a:r>
            <a:endParaRPr lang="en-US" sz="132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3</a:t>
            </a:fld>
            <a:endParaRPr lang="en-US"/>
          </a:p>
        </p:txBody>
      </p:sp>
      <p:sp>
        <p:nvSpPr>
          <p:cNvPr id="17" name="Text 4">
            <a:extLst>
              <a:ext uri="{FF2B5EF4-FFF2-40B4-BE49-F238E27FC236}">
                <a16:creationId xmlns:a16="http://schemas.microsoft.com/office/drawing/2014/main" id="{499B378B-64E3-20EF-47F4-5BC4159D8812}"/>
              </a:ext>
            </a:extLst>
          </p:cNvPr>
          <p:cNvSpPr/>
          <p:nvPr/>
        </p:nvSpPr>
        <p:spPr>
          <a:xfrm>
            <a:off x="9921240" y="4219956"/>
            <a:ext cx="1143000" cy="310896"/>
          </a:xfrm>
          <a:prstGeom prst="rect">
            <a:avLst/>
          </a:prstGeom>
          <a:solidFill>
            <a:srgbClr val="DBEAFE"/>
          </a:solidFill>
          <a:ln>
            <a:solidFill>
              <a:srgbClr val="DBEAFE"/>
            </a:solidFill>
          </a:ln>
        </p:spPr>
        <p:txBody>
          <a:bodyPr wrap="square" lIns="254" tIns="254" rIns="254" bIns="254" rtlCol="0" anchor="ctr"/>
          <a:lstStyle/>
          <a:p>
            <a:pPr marL="0" indent="0" algn="ctr">
              <a:buNone/>
            </a:pPr>
            <a:r>
              <a:rPr lang="tr-TR" sz="1050" b="1" dirty="0">
                <a:solidFill>
                  <a:srgbClr val="2563EB"/>
                </a:solidFill>
              </a:rPr>
              <a:t>Otomasyon</a:t>
            </a:r>
            <a:endParaRPr lang="en-US" sz="1050" dirty="0"/>
          </a:p>
        </p:txBody>
      </p:sp>
      <p:sp>
        <p:nvSpPr>
          <p:cNvPr id="18" name="Shape 10">
            <a:extLst>
              <a:ext uri="{FF2B5EF4-FFF2-40B4-BE49-F238E27FC236}">
                <a16:creationId xmlns:a16="http://schemas.microsoft.com/office/drawing/2014/main" id="{B8654A0D-ADD5-1860-953E-826994DC531F}"/>
              </a:ext>
            </a:extLst>
          </p:cNvPr>
          <p:cNvSpPr/>
          <p:nvPr/>
        </p:nvSpPr>
        <p:spPr>
          <a:xfrm flipH="1" flipV="1">
            <a:off x="9587484" y="3943972"/>
            <a:ext cx="344147" cy="428521"/>
          </a:xfrm>
          <a:prstGeom prst="line">
            <a:avLst/>
          </a:prstGeom>
          <a:noFill/>
          <a:ln w="17780">
            <a:solidFill>
              <a:srgbClr val="93A4B8"/>
            </a:solidFill>
            <a:prstDash val="solid"/>
            <a:tailEnd type="triangle"/>
          </a:ln>
        </p:spPr>
        <p:txBody>
          <a:bodyPr/>
          <a:lstStyle/>
          <a:p>
            <a:endParaRPr lang="tr-TR" sz="2800"/>
          </a:p>
        </p:txBody>
      </p:sp>
      <p:sp>
        <p:nvSpPr>
          <p:cNvPr id="19" name="Shape 10">
            <a:extLst>
              <a:ext uri="{FF2B5EF4-FFF2-40B4-BE49-F238E27FC236}">
                <a16:creationId xmlns:a16="http://schemas.microsoft.com/office/drawing/2014/main" id="{7744AC36-3E9A-2422-182B-E6BDB774405E}"/>
              </a:ext>
            </a:extLst>
          </p:cNvPr>
          <p:cNvSpPr/>
          <p:nvPr/>
        </p:nvSpPr>
        <p:spPr>
          <a:xfrm flipH="1">
            <a:off x="7973568" y="3943971"/>
            <a:ext cx="470916" cy="411481"/>
          </a:xfrm>
          <a:prstGeom prst="line">
            <a:avLst/>
          </a:prstGeom>
          <a:noFill/>
          <a:ln w="17780">
            <a:solidFill>
              <a:srgbClr val="93A4B8"/>
            </a:solidFill>
            <a:prstDash val="solid"/>
            <a:tailEnd type="triangle"/>
          </a:ln>
        </p:spPr>
        <p:txBody>
          <a:bodyPr/>
          <a:lstStyle/>
          <a:p>
            <a:endParaRPr lang="tr-TR" sz="2800"/>
          </a:p>
        </p:txBody>
      </p:sp>
      <p:sp>
        <p:nvSpPr>
          <p:cNvPr id="20" name="Shape 11">
            <a:extLst>
              <a:ext uri="{FF2B5EF4-FFF2-40B4-BE49-F238E27FC236}">
                <a16:creationId xmlns:a16="http://schemas.microsoft.com/office/drawing/2014/main" id="{22B91D09-9F44-6025-8337-524FC38F4B18}"/>
              </a:ext>
            </a:extLst>
          </p:cNvPr>
          <p:cNvSpPr/>
          <p:nvPr/>
        </p:nvSpPr>
        <p:spPr>
          <a:xfrm flipH="1" flipV="1">
            <a:off x="7416608" y="2560320"/>
            <a:ext cx="10396" cy="1659636"/>
          </a:xfrm>
          <a:prstGeom prst="line">
            <a:avLst/>
          </a:prstGeom>
          <a:noFill/>
          <a:ln w="17780">
            <a:solidFill>
              <a:srgbClr val="93A4B8"/>
            </a:solidFill>
            <a:prstDash val="solid"/>
            <a:tailEnd type="triangle"/>
          </a:ln>
        </p:spPr>
        <p:txBody>
          <a:bodyPr/>
          <a:lstStyle/>
          <a:p>
            <a:endParaRPr lang="tr-TR"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1792" y="420624"/>
            <a:ext cx="8412480" cy="384048"/>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Regresyon Testi Nedir?</a:t>
            </a:r>
            <a:endParaRPr lang="en-US" sz="2500" dirty="0"/>
          </a:p>
        </p:txBody>
      </p:sp>
      <p:sp>
        <p:nvSpPr>
          <p:cNvPr id="3" name="Text 1"/>
          <p:cNvSpPr/>
          <p:nvPr/>
        </p:nvSpPr>
        <p:spPr>
          <a:xfrm>
            <a:off x="640080" y="868680"/>
            <a:ext cx="9326880" cy="237744"/>
          </a:xfrm>
          <a:prstGeom prst="rect">
            <a:avLst/>
          </a:prstGeom>
          <a:noFill/>
          <a:ln/>
        </p:spPr>
        <p:txBody>
          <a:bodyPr wrap="square" lIns="0" tIns="0" rIns="0" bIns="0" rtlCol="0" anchor="ctr"/>
          <a:lstStyle/>
          <a:p>
            <a:pPr marL="0" indent="0">
              <a:buNone/>
            </a:pPr>
            <a:r>
              <a:rPr lang="en-US" sz="1080" dirty="0">
                <a:solidFill>
                  <a:srgbClr val="64748B"/>
                </a:solidFill>
              </a:rPr>
              <a:t>Yeni değişiklikler eski çalışan davranışı bozdu mu?</a:t>
            </a:r>
            <a:endParaRPr lang="en-US" sz="1080" dirty="0"/>
          </a:p>
        </p:txBody>
      </p:sp>
      <p:sp>
        <p:nvSpPr>
          <p:cNvPr id="4" name="Text 2"/>
          <p:cNvSpPr/>
          <p:nvPr/>
        </p:nvSpPr>
        <p:spPr>
          <a:xfrm>
            <a:off x="749808" y="1207008"/>
            <a:ext cx="10241280" cy="502920"/>
          </a:xfrm>
          <a:prstGeom prst="rect">
            <a:avLst/>
          </a:prstGeom>
          <a:noFill/>
          <a:ln/>
        </p:spPr>
        <p:txBody>
          <a:bodyPr wrap="square" lIns="635" tIns="635" rIns="635" bIns="635" rtlCol="0" anchor="t">
            <a:normAutofit/>
          </a:bodyPr>
          <a:lstStyle/>
          <a:p>
            <a:pPr marL="0" indent="0" algn="l">
              <a:buNone/>
            </a:pPr>
            <a:r>
              <a:rPr lang="en-US" sz="1620" dirty="0">
                <a:solidFill>
                  <a:srgbClr val="0F172A"/>
                </a:solidFill>
              </a:rPr>
              <a:t>Regresyon testi, yazılımda yapılan yeni geliştirme veya hata düzeltmelerinden sonra mevcut fonksiyonların hâlâ doğru çalıştığını doğrular.</a:t>
            </a:r>
            <a:endParaRPr lang="en-US" sz="1620" dirty="0"/>
          </a:p>
        </p:txBody>
      </p:sp>
      <p:sp>
        <p:nvSpPr>
          <p:cNvPr id="5" name="Text 3"/>
          <p:cNvSpPr/>
          <p:nvPr/>
        </p:nvSpPr>
        <p:spPr>
          <a:xfrm>
            <a:off x="658368" y="2240280"/>
            <a:ext cx="1828800" cy="13258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Yeni özellik veya bug fix yapılır.</a:t>
            </a:r>
            <a:endParaRPr lang="en-US" sz="1250" dirty="0"/>
          </a:p>
        </p:txBody>
      </p:sp>
      <p:sp>
        <p:nvSpPr>
          <p:cNvPr id="6" name="Text 4"/>
          <p:cNvSpPr/>
          <p:nvPr/>
        </p:nvSpPr>
        <p:spPr>
          <a:xfrm>
            <a:off x="777240" y="2359152"/>
            <a:ext cx="1591056" cy="210312"/>
          </a:xfrm>
          <a:prstGeom prst="rect">
            <a:avLst/>
          </a:prstGeom>
          <a:noFill/>
          <a:ln/>
        </p:spPr>
        <p:txBody>
          <a:bodyPr wrap="square" lIns="0" tIns="0" rIns="0" bIns="0" rtlCol="0" anchor="ctr">
            <a:normAutofit/>
          </a:bodyPr>
          <a:lstStyle/>
          <a:p>
            <a:pPr marL="0" indent="0">
              <a:buNone/>
            </a:pPr>
            <a:r>
              <a:rPr lang="en-US" sz="1280" b="1" dirty="0">
                <a:solidFill>
                  <a:srgbClr val="2563EB"/>
                </a:solidFill>
              </a:rPr>
              <a:t>1. Değişiklik</a:t>
            </a:r>
            <a:endParaRPr lang="en-US" sz="1280" dirty="0"/>
          </a:p>
        </p:txBody>
      </p:sp>
      <p:sp>
        <p:nvSpPr>
          <p:cNvPr id="7" name="Shape 5"/>
          <p:cNvSpPr/>
          <p:nvPr/>
        </p:nvSpPr>
        <p:spPr>
          <a:xfrm>
            <a:off x="2514600" y="2898648"/>
            <a:ext cx="365760" cy="0"/>
          </a:xfrm>
          <a:prstGeom prst="line">
            <a:avLst/>
          </a:prstGeom>
          <a:noFill/>
          <a:ln w="17780">
            <a:solidFill>
              <a:srgbClr val="93A4B8"/>
            </a:solidFill>
            <a:prstDash val="solid"/>
            <a:tailEnd type="triangle"/>
          </a:ln>
        </p:spPr>
        <p:txBody>
          <a:bodyPr/>
          <a:lstStyle/>
          <a:p>
            <a:endParaRPr lang="tr-TR"/>
          </a:p>
        </p:txBody>
      </p:sp>
      <p:sp>
        <p:nvSpPr>
          <p:cNvPr id="8" name="Text 6"/>
          <p:cNvSpPr/>
          <p:nvPr/>
        </p:nvSpPr>
        <p:spPr>
          <a:xfrm>
            <a:off x="2962656" y="2240280"/>
            <a:ext cx="1828800" cy="13258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err="1">
                <a:solidFill>
                  <a:srgbClr val="475569"/>
                </a:solidFill>
              </a:rPr>
              <a:t>Otomasyon</a:t>
            </a:r>
            <a:r>
              <a:rPr lang="en-US" sz="1250" dirty="0">
                <a:solidFill>
                  <a:srgbClr val="475569"/>
                </a:solidFill>
              </a:rPr>
              <a:t> tekrar çalıştırılır.</a:t>
            </a:r>
            <a:endParaRPr lang="en-US" sz="1250" dirty="0"/>
          </a:p>
        </p:txBody>
      </p:sp>
      <p:sp>
        <p:nvSpPr>
          <p:cNvPr id="9" name="Text 7"/>
          <p:cNvSpPr/>
          <p:nvPr/>
        </p:nvSpPr>
        <p:spPr>
          <a:xfrm>
            <a:off x="3081528" y="2359152"/>
            <a:ext cx="1591056" cy="210312"/>
          </a:xfrm>
          <a:prstGeom prst="rect">
            <a:avLst/>
          </a:prstGeom>
          <a:noFill/>
          <a:ln/>
        </p:spPr>
        <p:txBody>
          <a:bodyPr wrap="square" lIns="0" tIns="0" rIns="0" bIns="0" rtlCol="0" anchor="ctr">
            <a:normAutofit/>
          </a:bodyPr>
          <a:lstStyle/>
          <a:p>
            <a:pPr marL="0" indent="0">
              <a:buNone/>
            </a:pPr>
            <a:r>
              <a:rPr lang="en-US" sz="1280" b="1" dirty="0">
                <a:solidFill>
                  <a:srgbClr val="0D9488"/>
                </a:solidFill>
              </a:rPr>
              <a:t>2. Test</a:t>
            </a:r>
            <a:endParaRPr lang="en-US" sz="1280" dirty="0"/>
          </a:p>
        </p:txBody>
      </p:sp>
      <p:sp>
        <p:nvSpPr>
          <p:cNvPr id="10" name="Shape 8"/>
          <p:cNvSpPr/>
          <p:nvPr/>
        </p:nvSpPr>
        <p:spPr>
          <a:xfrm>
            <a:off x="4818888" y="2898648"/>
            <a:ext cx="365760" cy="0"/>
          </a:xfrm>
          <a:prstGeom prst="line">
            <a:avLst/>
          </a:prstGeom>
          <a:noFill/>
          <a:ln w="17780">
            <a:solidFill>
              <a:srgbClr val="93A4B8"/>
            </a:solidFill>
            <a:prstDash val="solid"/>
            <a:tailEnd type="triangle"/>
          </a:ln>
        </p:spPr>
        <p:txBody>
          <a:bodyPr/>
          <a:lstStyle/>
          <a:p>
            <a:endParaRPr lang="tr-TR"/>
          </a:p>
        </p:txBody>
      </p:sp>
      <p:sp>
        <p:nvSpPr>
          <p:cNvPr id="11" name="Text 9"/>
          <p:cNvSpPr/>
          <p:nvPr/>
        </p:nvSpPr>
        <p:spPr>
          <a:xfrm>
            <a:off x="5266944" y="2240280"/>
            <a:ext cx="1828800" cy="13258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Eski davranışlar doğrulanır.</a:t>
            </a:r>
            <a:endParaRPr lang="en-US" sz="1250" dirty="0"/>
          </a:p>
        </p:txBody>
      </p:sp>
      <p:sp>
        <p:nvSpPr>
          <p:cNvPr id="12" name="Text 10"/>
          <p:cNvSpPr/>
          <p:nvPr/>
        </p:nvSpPr>
        <p:spPr>
          <a:xfrm>
            <a:off x="5385816" y="2359152"/>
            <a:ext cx="1591056" cy="210312"/>
          </a:xfrm>
          <a:prstGeom prst="rect">
            <a:avLst/>
          </a:prstGeom>
          <a:noFill/>
          <a:ln/>
        </p:spPr>
        <p:txBody>
          <a:bodyPr wrap="square" lIns="0" tIns="0" rIns="0" bIns="0" rtlCol="0" anchor="ctr">
            <a:normAutofit/>
          </a:bodyPr>
          <a:lstStyle/>
          <a:p>
            <a:pPr marL="0" indent="0">
              <a:buNone/>
            </a:pPr>
            <a:r>
              <a:rPr lang="en-US" sz="1280" b="1" dirty="0">
                <a:solidFill>
                  <a:srgbClr val="7C3AED"/>
                </a:solidFill>
              </a:rPr>
              <a:t>3. Kontrol</a:t>
            </a:r>
            <a:endParaRPr lang="en-US" sz="1280" dirty="0"/>
          </a:p>
        </p:txBody>
      </p:sp>
      <p:sp>
        <p:nvSpPr>
          <p:cNvPr id="13" name="Shape 11"/>
          <p:cNvSpPr/>
          <p:nvPr/>
        </p:nvSpPr>
        <p:spPr>
          <a:xfrm>
            <a:off x="7123176" y="2898648"/>
            <a:ext cx="365760" cy="0"/>
          </a:xfrm>
          <a:prstGeom prst="line">
            <a:avLst/>
          </a:prstGeom>
          <a:noFill/>
          <a:ln w="17780">
            <a:solidFill>
              <a:srgbClr val="93A4B8"/>
            </a:solidFill>
            <a:prstDash val="solid"/>
            <a:tailEnd type="triangle"/>
          </a:ln>
        </p:spPr>
        <p:txBody>
          <a:bodyPr/>
          <a:lstStyle/>
          <a:p>
            <a:endParaRPr lang="tr-TR"/>
          </a:p>
        </p:txBody>
      </p:sp>
      <p:sp>
        <p:nvSpPr>
          <p:cNvPr id="14" name="Text 12"/>
          <p:cNvSpPr/>
          <p:nvPr/>
        </p:nvSpPr>
        <p:spPr>
          <a:xfrm>
            <a:off x="7571232" y="2240280"/>
            <a:ext cx="1828800" cy="13258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Hata varsa erken fark edilir.</a:t>
            </a:r>
            <a:endParaRPr lang="en-US" sz="1250" dirty="0"/>
          </a:p>
        </p:txBody>
      </p:sp>
      <p:sp>
        <p:nvSpPr>
          <p:cNvPr id="15" name="Text 13"/>
          <p:cNvSpPr/>
          <p:nvPr/>
        </p:nvSpPr>
        <p:spPr>
          <a:xfrm>
            <a:off x="7690104" y="2359152"/>
            <a:ext cx="1591056" cy="210312"/>
          </a:xfrm>
          <a:prstGeom prst="rect">
            <a:avLst/>
          </a:prstGeom>
          <a:noFill/>
          <a:ln/>
        </p:spPr>
        <p:txBody>
          <a:bodyPr wrap="square" lIns="0" tIns="0" rIns="0" bIns="0" rtlCol="0" anchor="ctr">
            <a:normAutofit/>
          </a:bodyPr>
          <a:lstStyle/>
          <a:p>
            <a:pPr marL="0" indent="0">
              <a:buNone/>
            </a:pPr>
            <a:r>
              <a:rPr lang="en-US" sz="1280" b="1" dirty="0">
                <a:solidFill>
                  <a:srgbClr val="D97706"/>
                </a:solidFill>
              </a:rPr>
              <a:t>4. Geri Bildirim</a:t>
            </a:r>
            <a:endParaRPr lang="en-US" sz="1280" dirty="0"/>
          </a:p>
        </p:txBody>
      </p:sp>
      <p:sp>
        <p:nvSpPr>
          <p:cNvPr id="16" name="Shape 14"/>
          <p:cNvSpPr/>
          <p:nvPr/>
        </p:nvSpPr>
        <p:spPr>
          <a:xfrm>
            <a:off x="9427464" y="2898648"/>
            <a:ext cx="365760" cy="0"/>
          </a:xfrm>
          <a:prstGeom prst="line">
            <a:avLst/>
          </a:prstGeom>
          <a:noFill/>
          <a:ln w="17780">
            <a:solidFill>
              <a:srgbClr val="93A4B8"/>
            </a:solidFill>
            <a:prstDash val="solid"/>
            <a:tailEnd type="triangle"/>
          </a:ln>
        </p:spPr>
        <p:txBody>
          <a:bodyPr/>
          <a:lstStyle/>
          <a:p>
            <a:endParaRPr lang="tr-TR"/>
          </a:p>
        </p:txBody>
      </p:sp>
      <p:sp>
        <p:nvSpPr>
          <p:cNvPr id="17" name="Text 15"/>
          <p:cNvSpPr/>
          <p:nvPr/>
        </p:nvSpPr>
        <p:spPr>
          <a:xfrm>
            <a:off x="9875520" y="2240280"/>
            <a:ext cx="1828800" cy="13258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Risk daha düşük olur.</a:t>
            </a:r>
            <a:endParaRPr lang="en-US" sz="1250" dirty="0"/>
          </a:p>
        </p:txBody>
      </p:sp>
      <p:sp>
        <p:nvSpPr>
          <p:cNvPr id="18" name="Text 16"/>
          <p:cNvSpPr/>
          <p:nvPr/>
        </p:nvSpPr>
        <p:spPr>
          <a:xfrm>
            <a:off x="9994392" y="2359152"/>
            <a:ext cx="1591056" cy="210312"/>
          </a:xfrm>
          <a:prstGeom prst="rect">
            <a:avLst/>
          </a:prstGeom>
          <a:noFill/>
          <a:ln/>
        </p:spPr>
        <p:txBody>
          <a:bodyPr wrap="square" lIns="0" tIns="0" rIns="0" bIns="0" rtlCol="0" anchor="ctr">
            <a:normAutofit/>
          </a:bodyPr>
          <a:lstStyle/>
          <a:p>
            <a:pPr marL="0" indent="0">
              <a:buNone/>
            </a:pPr>
            <a:r>
              <a:rPr lang="en-US" sz="1280" b="1" dirty="0">
                <a:solidFill>
                  <a:srgbClr val="16A34A"/>
                </a:solidFill>
              </a:rPr>
              <a:t>5. Yayın</a:t>
            </a:r>
            <a:endParaRPr lang="en-US" sz="1280" dirty="0"/>
          </a:p>
        </p:txBody>
      </p:sp>
      <p:sp>
        <p:nvSpPr>
          <p:cNvPr id="19" name="Text 17"/>
          <p:cNvSpPr/>
          <p:nvPr/>
        </p:nvSpPr>
        <p:spPr>
          <a:xfrm>
            <a:off x="658368" y="4231594"/>
            <a:ext cx="9966960" cy="1325880"/>
          </a:xfrm>
          <a:prstGeom prst="rect">
            <a:avLst/>
          </a:prstGeom>
          <a:noFill/>
          <a:ln/>
        </p:spPr>
        <p:txBody>
          <a:bodyPr wrap="square" lIns="635" tIns="635" rIns="635" bIns="635" rtlCol="0" anchor="ctr">
            <a:normAutofit/>
          </a:bodyPr>
          <a:lstStyle/>
          <a:p>
            <a:r>
              <a:rPr lang="tr-TR" sz="1450" b="1" dirty="0">
                <a:solidFill>
                  <a:srgbClr val="475569"/>
                </a:solidFill>
              </a:rPr>
              <a:t>Katkıları : </a:t>
            </a:r>
          </a:p>
          <a:p>
            <a:r>
              <a:rPr lang="en-US" sz="1450" dirty="0">
                <a:solidFill>
                  <a:srgbClr val="475569"/>
                </a:solidFill>
              </a:rPr>
              <a:t>Manuel tekrar yükü zaman alır ve hata riski taşır.</a:t>
            </a:r>
            <a:endParaRPr lang="en-US" sz="1450" dirty="0"/>
          </a:p>
          <a:p>
            <a:r>
              <a:rPr lang="en-US" sz="1450" dirty="0">
                <a:solidFill>
                  <a:srgbClr val="475569"/>
                </a:solidFill>
              </a:rPr>
              <a:t>Otomasyon hızlı, tutarlı ve ölçülebilir geri bildirim üretir.</a:t>
            </a:r>
            <a:endParaRPr lang="en-US" sz="1450" dirty="0"/>
          </a:p>
          <a:p>
            <a:r>
              <a:rPr lang="en-US" sz="1450" dirty="0">
                <a:solidFill>
                  <a:srgbClr val="475569"/>
                </a:solidFill>
              </a:rPr>
              <a:t>CI/CD süreçlerinde her commit veya release öncesi çalıştırılabilir.</a:t>
            </a:r>
            <a:endParaRPr lang="en-US" sz="145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21792" y="420624"/>
            <a:ext cx="8412480" cy="384048"/>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API Testi Neden Önemli?</a:t>
            </a:r>
            <a:endParaRPr lang="en-US" sz="2500" dirty="0"/>
          </a:p>
        </p:txBody>
      </p:sp>
      <p:sp>
        <p:nvSpPr>
          <p:cNvPr id="3" name="Text 1"/>
          <p:cNvSpPr/>
          <p:nvPr/>
        </p:nvSpPr>
        <p:spPr>
          <a:xfrm>
            <a:off x="640080" y="868680"/>
            <a:ext cx="9326880" cy="237744"/>
          </a:xfrm>
          <a:prstGeom prst="rect">
            <a:avLst/>
          </a:prstGeom>
          <a:noFill/>
          <a:ln/>
        </p:spPr>
        <p:txBody>
          <a:bodyPr wrap="square" lIns="0" tIns="0" rIns="0" bIns="0" rtlCol="0" anchor="ctr"/>
          <a:lstStyle/>
          <a:p>
            <a:pPr marL="0" indent="0">
              <a:buNone/>
            </a:pPr>
            <a:r>
              <a:rPr lang="en-US" sz="1080" dirty="0">
                <a:solidFill>
                  <a:srgbClr val="64748B"/>
                </a:solidFill>
              </a:rPr>
              <a:t>Modern uygulamalarda servisler arası iletişim API üzerinden ilerler</a:t>
            </a:r>
            <a:endParaRPr lang="en-US" sz="1080" dirty="0"/>
          </a:p>
        </p:txBody>
      </p:sp>
      <p:sp>
        <p:nvSpPr>
          <p:cNvPr id="4" name="Text 2"/>
          <p:cNvSpPr/>
          <p:nvPr/>
        </p:nvSpPr>
        <p:spPr>
          <a:xfrm>
            <a:off x="749808" y="1417320"/>
            <a:ext cx="3337560" cy="310896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err="1">
                <a:solidFill>
                  <a:srgbClr val="475569"/>
                </a:solidFill>
              </a:rPr>
              <a:t>İstemci</a:t>
            </a:r>
            <a:r>
              <a:rPr lang="en-US" sz="1250" dirty="0">
                <a:solidFill>
                  <a:srgbClr val="475569"/>
                </a:solidFill>
              </a:rPr>
              <a:t> API endpointine HTTP isteği gönderir: method, path, header ve body.</a:t>
            </a:r>
            <a:endParaRPr lang="en-US" sz="1250" dirty="0"/>
          </a:p>
        </p:txBody>
      </p:sp>
      <p:sp>
        <p:nvSpPr>
          <p:cNvPr id="5" name="Text 3"/>
          <p:cNvSpPr/>
          <p:nvPr/>
        </p:nvSpPr>
        <p:spPr>
          <a:xfrm>
            <a:off x="868680" y="1536192"/>
            <a:ext cx="3099816" cy="210312"/>
          </a:xfrm>
          <a:prstGeom prst="rect">
            <a:avLst/>
          </a:prstGeom>
          <a:noFill/>
          <a:ln/>
        </p:spPr>
        <p:txBody>
          <a:bodyPr wrap="square" lIns="0" tIns="0" rIns="0" bIns="0" rtlCol="0" anchor="ctr">
            <a:normAutofit/>
          </a:bodyPr>
          <a:lstStyle/>
          <a:p>
            <a:pPr marL="0" indent="0">
              <a:buNone/>
            </a:pPr>
            <a:r>
              <a:rPr lang="en-US" sz="1280" b="1" dirty="0">
                <a:solidFill>
                  <a:srgbClr val="2563EB"/>
                </a:solidFill>
              </a:rPr>
              <a:t>Request</a:t>
            </a:r>
            <a:endParaRPr lang="en-US" sz="1280" dirty="0"/>
          </a:p>
        </p:txBody>
      </p:sp>
      <p:sp>
        <p:nvSpPr>
          <p:cNvPr id="6" name="Text 4"/>
          <p:cNvSpPr/>
          <p:nvPr/>
        </p:nvSpPr>
        <p:spPr>
          <a:xfrm>
            <a:off x="4434840" y="1417320"/>
            <a:ext cx="3337560" cy="310896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Servis isteği işler; iş mantığı veya veri katmanı ile gerekli operasyonu yapar.</a:t>
            </a:r>
            <a:endParaRPr lang="en-US" sz="1250" dirty="0"/>
          </a:p>
        </p:txBody>
      </p:sp>
      <p:sp>
        <p:nvSpPr>
          <p:cNvPr id="7" name="Text 5"/>
          <p:cNvSpPr/>
          <p:nvPr/>
        </p:nvSpPr>
        <p:spPr>
          <a:xfrm>
            <a:off x="4553712" y="1536192"/>
            <a:ext cx="3099816" cy="210312"/>
          </a:xfrm>
          <a:prstGeom prst="rect">
            <a:avLst/>
          </a:prstGeom>
          <a:noFill/>
          <a:ln/>
        </p:spPr>
        <p:txBody>
          <a:bodyPr wrap="square" lIns="0" tIns="0" rIns="0" bIns="0" rtlCol="0" anchor="ctr">
            <a:normAutofit/>
          </a:bodyPr>
          <a:lstStyle/>
          <a:p>
            <a:pPr marL="0" indent="0">
              <a:buNone/>
            </a:pPr>
            <a:r>
              <a:rPr lang="en-US" sz="1280" b="1" dirty="0">
                <a:solidFill>
                  <a:srgbClr val="0D9488"/>
                </a:solidFill>
              </a:rPr>
              <a:t>Service</a:t>
            </a:r>
            <a:endParaRPr lang="en-US" sz="1280" dirty="0"/>
          </a:p>
        </p:txBody>
      </p:sp>
      <p:sp>
        <p:nvSpPr>
          <p:cNvPr id="8" name="Text 6"/>
          <p:cNvSpPr/>
          <p:nvPr/>
        </p:nvSpPr>
        <p:spPr>
          <a:xfrm>
            <a:off x="8119872" y="1417320"/>
            <a:ext cx="3337560" cy="310896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Servis status code, header, body ve süre bilgisiyle cevap döner. Test bu cevabı doğrular.</a:t>
            </a:r>
            <a:endParaRPr lang="en-US" sz="1250" dirty="0"/>
          </a:p>
        </p:txBody>
      </p:sp>
      <p:sp>
        <p:nvSpPr>
          <p:cNvPr id="9" name="Text 7"/>
          <p:cNvSpPr/>
          <p:nvPr/>
        </p:nvSpPr>
        <p:spPr>
          <a:xfrm>
            <a:off x="8238744" y="1536192"/>
            <a:ext cx="3099816" cy="210312"/>
          </a:xfrm>
          <a:prstGeom prst="rect">
            <a:avLst/>
          </a:prstGeom>
          <a:noFill/>
          <a:ln/>
        </p:spPr>
        <p:txBody>
          <a:bodyPr wrap="square" lIns="0" tIns="0" rIns="0" bIns="0" rtlCol="0" anchor="ctr">
            <a:normAutofit/>
          </a:bodyPr>
          <a:lstStyle/>
          <a:p>
            <a:pPr marL="0" indent="0">
              <a:buNone/>
            </a:pPr>
            <a:r>
              <a:rPr lang="en-US" sz="1280" b="1" dirty="0">
                <a:solidFill>
                  <a:srgbClr val="7C3AED"/>
                </a:solidFill>
              </a:rPr>
              <a:t>Response</a:t>
            </a:r>
            <a:endParaRPr lang="en-US" sz="1280" dirty="0"/>
          </a:p>
        </p:txBody>
      </p:sp>
      <p:sp>
        <p:nvSpPr>
          <p:cNvPr id="10" name="Shape 8"/>
          <p:cNvSpPr/>
          <p:nvPr/>
        </p:nvSpPr>
        <p:spPr>
          <a:xfrm>
            <a:off x="4133088" y="2971800"/>
            <a:ext cx="301752" cy="0"/>
          </a:xfrm>
          <a:prstGeom prst="line">
            <a:avLst/>
          </a:prstGeom>
          <a:noFill/>
          <a:ln w="17780">
            <a:solidFill>
              <a:srgbClr val="93A4B8"/>
            </a:solidFill>
            <a:prstDash val="solid"/>
            <a:tailEnd type="triangle"/>
          </a:ln>
        </p:spPr>
        <p:txBody>
          <a:bodyPr/>
          <a:lstStyle/>
          <a:p>
            <a:endParaRPr lang="tr-TR"/>
          </a:p>
        </p:txBody>
      </p:sp>
      <p:sp>
        <p:nvSpPr>
          <p:cNvPr id="11" name="Shape 9"/>
          <p:cNvSpPr/>
          <p:nvPr/>
        </p:nvSpPr>
        <p:spPr>
          <a:xfrm>
            <a:off x="7818120" y="2971800"/>
            <a:ext cx="301752" cy="0"/>
          </a:xfrm>
          <a:prstGeom prst="line">
            <a:avLst/>
          </a:prstGeom>
          <a:noFill/>
          <a:ln w="17780">
            <a:solidFill>
              <a:srgbClr val="93A4B8"/>
            </a:solidFill>
            <a:prstDash val="solid"/>
            <a:tailEnd type="triangle"/>
          </a:ln>
        </p:spPr>
        <p:txBody>
          <a:bodyPr/>
          <a:lstStyle/>
          <a:p>
            <a:endParaRPr lang="tr-TR"/>
          </a:p>
        </p:txBody>
      </p:sp>
      <p:sp>
        <p:nvSpPr>
          <p:cNvPr id="12" name="Text 10"/>
          <p:cNvSpPr/>
          <p:nvPr/>
        </p:nvSpPr>
        <p:spPr>
          <a:xfrm>
            <a:off x="1143000" y="5257800"/>
            <a:ext cx="1417320" cy="310896"/>
          </a:xfrm>
          <a:prstGeom prst="rect">
            <a:avLst/>
          </a:prstGeom>
          <a:solidFill>
            <a:srgbClr val="DBEAFE"/>
          </a:solidFill>
          <a:ln>
            <a:solidFill>
              <a:srgbClr val="DBEAFE"/>
            </a:solidFill>
          </a:ln>
        </p:spPr>
        <p:txBody>
          <a:bodyPr wrap="square" lIns="254" tIns="254" rIns="254" bIns="254" rtlCol="0" anchor="ctr"/>
          <a:lstStyle/>
          <a:p>
            <a:pPr marL="0" indent="0" algn="ctr">
              <a:buNone/>
            </a:pPr>
            <a:r>
              <a:rPr lang="en-US" sz="1050" b="1" dirty="0">
                <a:solidFill>
                  <a:srgbClr val="2563EB"/>
                </a:solidFill>
              </a:rPr>
              <a:t>status code</a:t>
            </a:r>
            <a:endParaRPr lang="en-US" sz="1050" dirty="0"/>
          </a:p>
        </p:txBody>
      </p:sp>
      <p:sp>
        <p:nvSpPr>
          <p:cNvPr id="13" name="Text 11"/>
          <p:cNvSpPr/>
          <p:nvPr/>
        </p:nvSpPr>
        <p:spPr>
          <a:xfrm>
            <a:off x="3017520" y="5257800"/>
            <a:ext cx="1645920" cy="310896"/>
          </a:xfrm>
          <a:prstGeom prst="rect">
            <a:avLst/>
          </a:prstGeom>
          <a:solidFill>
            <a:srgbClr val="CCFBF1"/>
          </a:solidFill>
          <a:ln>
            <a:solidFill>
              <a:srgbClr val="CCFBF1"/>
            </a:solidFill>
          </a:ln>
        </p:spPr>
        <p:txBody>
          <a:bodyPr wrap="square" lIns="254" tIns="254" rIns="254" bIns="254" rtlCol="0" anchor="ctr"/>
          <a:lstStyle/>
          <a:p>
            <a:pPr marL="0" indent="0" algn="ctr">
              <a:buNone/>
            </a:pPr>
            <a:r>
              <a:rPr lang="en-US" sz="1050" b="1" dirty="0">
                <a:solidFill>
                  <a:srgbClr val="0D9488"/>
                </a:solidFill>
              </a:rPr>
              <a:t>response body</a:t>
            </a:r>
            <a:endParaRPr lang="en-US" sz="1050" dirty="0"/>
          </a:p>
        </p:txBody>
      </p:sp>
      <p:sp>
        <p:nvSpPr>
          <p:cNvPr id="14" name="Text 12"/>
          <p:cNvSpPr/>
          <p:nvPr/>
        </p:nvSpPr>
        <p:spPr>
          <a:xfrm>
            <a:off x="5257800" y="5257800"/>
            <a:ext cx="1645920" cy="310896"/>
          </a:xfrm>
          <a:prstGeom prst="rect">
            <a:avLst/>
          </a:prstGeom>
          <a:solidFill>
            <a:srgbClr val="EDE9FE"/>
          </a:solidFill>
          <a:ln>
            <a:solidFill>
              <a:srgbClr val="EDE9FE"/>
            </a:solidFill>
          </a:ln>
        </p:spPr>
        <p:txBody>
          <a:bodyPr wrap="square" lIns="254" tIns="254" rIns="254" bIns="254" rtlCol="0" anchor="ctr"/>
          <a:lstStyle/>
          <a:p>
            <a:pPr marL="0" indent="0" algn="ctr">
              <a:buNone/>
            </a:pPr>
            <a:r>
              <a:rPr lang="en-US" sz="1050" b="1" dirty="0">
                <a:solidFill>
                  <a:srgbClr val="7C3AED"/>
                </a:solidFill>
              </a:rPr>
              <a:t>response time</a:t>
            </a:r>
            <a:endParaRPr lang="en-US" sz="1050" dirty="0"/>
          </a:p>
        </p:txBody>
      </p:sp>
      <p:sp>
        <p:nvSpPr>
          <p:cNvPr id="15" name="Text 13"/>
          <p:cNvSpPr/>
          <p:nvPr/>
        </p:nvSpPr>
        <p:spPr>
          <a:xfrm>
            <a:off x="7543800" y="5257800"/>
            <a:ext cx="1554480" cy="310896"/>
          </a:xfrm>
          <a:prstGeom prst="rect">
            <a:avLst/>
          </a:prstGeom>
          <a:solidFill>
            <a:srgbClr val="FEF3C7"/>
          </a:solidFill>
          <a:ln>
            <a:solidFill>
              <a:srgbClr val="FEF3C7"/>
            </a:solidFill>
          </a:ln>
        </p:spPr>
        <p:txBody>
          <a:bodyPr wrap="square" lIns="254" tIns="254" rIns="254" bIns="254" rtlCol="0" anchor="ctr"/>
          <a:lstStyle/>
          <a:p>
            <a:pPr marL="0" indent="0" algn="ctr">
              <a:buNone/>
            </a:pPr>
            <a:r>
              <a:rPr lang="en-US" sz="1050" b="1" dirty="0">
                <a:solidFill>
                  <a:srgbClr val="D97706"/>
                </a:solidFill>
              </a:rPr>
              <a:t>request body</a:t>
            </a:r>
            <a:endParaRPr lang="en-US" sz="1050" dirty="0"/>
          </a:p>
        </p:txBody>
      </p:sp>
      <p:sp>
        <p:nvSpPr>
          <p:cNvPr id="16" name="Text 14"/>
          <p:cNvSpPr/>
          <p:nvPr/>
        </p:nvSpPr>
        <p:spPr>
          <a:xfrm>
            <a:off x="9692640" y="5257800"/>
            <a:ext cx="1371600" cy="310896"/>
          </a:xfrm>
          <a:prstGeom prst="rect">
            <a:avLst/>
          </a:prstGeom>
          <a:solidFill>
            <a:srgbClr val="DCFCE7"/>
          </a:solidFill>
          <a:ln>
            <a:solidFill>
              <a:srgbClr val="DCFCE7"/>
            </a:solidFill>
          </a:ln>
        </p:spPr>
        <p:txBody>
          <a:bodyPr wrap="square" lIns="254" tIns="254" rIns="254" bIns="254" rtlCol="0" anchor="ctr"/>
          <a:lstStyle/>
          <a:p>
            <a:pPr marL="0" indent="0" algn="ctr">
              <a:buNone/>
            </a:pPr>
            <a:r>
              <a:rPr lang="en-US" sz="1050" b="1" dirty="0">
                <a:solidFill>
                  <a:srgbClr val="16A34A"/>
                </a:solidFill>
              </a:rPr>
              <a:t>regression</a:t>
            </a:r>
            <a:endParaRPr lang="en-US" sz="105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21792" y="420624"/>
            <a:ext cx="8412480" cy="384048"/>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Kullanılan Teknolojiler</a:t>
            </a:r>
            <a:endParaRPr lang="en-US" sz="2500" dirty="0"/>
          </a:p>
        </p:txBody>
      </p:sp>
      <p:sp>
        <p:nvSpPr>
          <p:cNvPr id="3" name="Text 1"/>
          <p:cNvSpPr/>
          <p:nvPr/>
        </p:nvSpPr>
        <p:spPr>
          <a:xfrm>
            <a:off x="640080" y="868680"/>
            <a:ext cx="9326880" cy="237744"/>
          </a:xfrm>
          <a:prstGeom prst="rect">
            <a:avLst/>
          </a:prstGeom>
          <a:noFill/>
          <a:ln/>
        </p:spPr>
        <p:txBody>
          <a:bodyPr wrap="square" lIns="0" tIns="0" rIns="0" bIns="0" rtlCol="0" anchor="ctr"/>
          <a:lstStyle/>
          <a:p>
            <a:pPr marL="0" indent="0">
              <a:buNone/>
            </a:pPr>
            <a:r>
              <a:rPr lang="en-US" sz="1080" dirty="0">
                <a:solidFill>
                  <a:srgbClr val="64748B"/>
                </a:solidFill>
              </a:rPr>
              <a:t>Proje Java ekosistemi içinde Maven tabanlı hazırlandı</a:t>
            </a:r>
            <a:endParaRPr lang="en-US" sz="1080" dirty="0"/>
          </a:p>
        </p:txBody>
      </p:sp>
      <p:sp>
        <p:nvSpPr>
          <p:cNvPr id="4" name="Text 2"/>
          <p:cNvSpPr/>
          <p:nvPr/>
        </p:nvSpPr>
        <p:spPr>
          <a:xfrm>
            <a:off x="685800" y="1325880"/>
            <a:ext cx="3364992" cy="10972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Test kodlarının </a:t>
            </a:r>
            <a:r>
              <a:rPr lang="en-US" sz="1250" dirty="0" err="1">
                <a:solidFill>
                  <a:srgbClr val="475569"/>
                </a:solidFill>
              </a:rPr>
              <a:t>geliştirildiği</a:t>
            </a:r>
            <a:r>
              <a:rPr lang="en-US" sz="1250" dirty="0">
                <a:solidFill>
                  <a:srgbClr val="475569"/>
                </a:solidFill>
              </a:rPr>
              <a:t> </a:t>
            </a:r>
            <a:endParaRPr lang="tr-TR" sz="1250" dirty="0">
              <a:solidFill>
                <a:srgbClr val="475569"/>
              </a:solidFill>
            </a:endParaRPr>
          </a:p>
          <a:p>
            <a:pPr marL="0" indent="0" algn="ctr">
              <a:buNone/>
            </a:pPr>
            <a:r>
              <a:rPr lang="en-US" sz="1250" dirty="0" err="1">
                <a:solidFill>
                  <a:srgbClr val="475569"/>
                </a:solidFill>
              </a:rPr>
              <a:t>dil</a:t>
            </a:r>
            <a:r>
              <a:rPr lang="en-US" sz="1250" dirty="0">
                <a:solidFill>
                  <a:srgbClr val="475569"/>
                </a:solidFill>
              </a:rPr>
              <a:t> ve runtime ortamı.</a:t>
            </a:r>
            <a:endParaRPr lang="en-US" sz="1250" dirty="0"/>
          </a:p>
        </p:txBody>
      </p:sp>
      <p:sp>
        <p:nvSpPr>
          <p:cNvPr id="5" name="Text 3"/>
          <p:cNvSpPr/>
          <p:nvPr/>
        </p:nvSpPr>
        <p:spPr>
          <a:xfrm>
            <a:off x="804672" y="1444752"/>
            <a:ext cx="3127248" cy="210312"/>
          </a:xfrm>
          <a:prstGeom prst="rect">
            <a:avLst/>
          </a:prstGeom>
          <a:noFill/>
          <a:ln/>
        </p:spPr>
        <p:txBody>
          <a:bodyPr wrap="square" lIns="0" tIns="0" rIns="0" bIns="0" rtlCol="0" anchor="ctr">
            <a:normAutofit/>
          </a:bodyPr>
          <a:lstStyle/>
          <a:p>
            <a:pPr marL="0" indent="0">
              <a:buNone/>
            </a:pPr>
            <a:r>
              <a:rPr lang="en-US" sz="1280" b="1" dirty="0">
                <a:solidFill>
                  <a:srgbClr val="2563EB"/>
                </a:solidFill>
              </a:rPr>
              <a:t>Java 17</a:t>
            </a:r>
            <a:endParaRPr lang="en-US" sz="1280" dirty="0"/>
          </a:p>
        </p:txBody>
      </p:sp>
      <p:sp>
        <p:nvSpPr>
          <p:cNvPr id="6" name="Text 4"/>
          <p:cNvSpPr/>
          <p:nvPr/>
        </p:nvSpPr>
        <p:spPr>
          <a:xfrm>
            <a:off x="4480560" y="1325880"/>
            <a:ext cx="3364992" cy="10972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err="1">
                <a:solidFill>
                  <a:srgbClr val="475569"/>
                </a:solidFill>
              </a:rPr>
              <a:t>Bağımlılık</a:t>
            </a:r>
            <a:r>
              <a:rPr lang="en-US" sz="1250" dirty="0">
                <a:solidFill>
                  <a:srgbClr val="475569"/>
                </a:solidFill>
              </a:rPr>
              <a:t> </a:t>
            </a:r>
            <a:r>
              <a:rPr lang="en-US" sz="1250" dirty="0" err="1">
                <a:solidFill>
                  <a:srgbClr val="475569"/>
                </a:solidFill>
              </a:rPr>
              <a:t>yönetimi</a:t>
            </a:r>
            <a:r>
              <a:rPr lang="en-US" sz="1250" dirty="0">
                <a:solidFill>
                  <a:srgbClr val="475569"/>
                </a:solidFill>
              </a:rPr>
              <a:t> </a:t>
            </a:r>
            <a:r>
              <a:rPr lang="en-US" sz="1250" dirty="0" err="1">
                <a:solidFill>
                  <a:srgbClr val="475569"/>
                </a:solidFill>
              </a:rPr>
              <a:t>ve</a:t>
            </a:r>
            <a:r>
              <a:rPr lang="en-US" sz="1250" dirty="0">
                <a:solidFill>
                  <a:srgbClr val="475569"/>
                </a:solidFill>
              </a:rPr>
              <a:t> test çalıştırma süreci.</a:t>
            </a:r>
            <a:endParaRPr lang="en-US" sz="1250" dirty="0"/>
          </a:p>
        </p:txBody>
      </p:sp>
      <p:sp>
        <p:nvSpPr>
          <p:cNvPr id="7" name="Text 5"/>
          <p:cNvSpPr/>
          <p:nvPr/>
        </p:nvSpPr>
        <p:spPr>
          <a:xfrm>
            <a:off x="4599432" y="1444752"/>
            <a:ext cx="3127248" cy="210312"/>
          </a:xfrm>
          <a:prstGeom prst="rect">
            <a:avLst/>
          </a:prstGeom>
          <a:noFill/>
          <a:ln/>
        </p:spPr>
        <p:txBody>
          <a:bodyPr wrap="square" lIns="0" tIns="0" rIns="0" bIns="0" rtlCol="0" anchor="ctr">
            <a:normAutofit/>
          </a:bodyPr>
          <a:lstStyle/>
          <a:p>
            <a:pPr marL="0" indent="0">
              <a:buNone/>
            </a:pPr>
            <a:r>
              <a:rPr lang="en-US" sz="1280" b="1" dirty="0">
                <a:solidFill>
                  <a:srgbClr val="0D9488"/>
                </a:solidFill>
              </a:rPr>
              <a:t>Maven</a:t>
            </a:r>
            <a:endParaRPr lang="en-US" sz="1280" dirty="0"/>
          </a:p>
        </p:txBody>
      </p:sp>
      <p:sp>
        <p:nvSpPr>
          <p:cNvPr id="8" name="Text 6"/>
          <p:cNvSpPr/>
          <p:nvPr/>
        </p:nvSpPr>
        <p:spPr>
          <a:xfrm>
            <a:off x="8275320" y="1325880"/>
            <a:ext cx="3364992" cy="10972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Test metotlarının tanımlanması ve yürütülmesi.</a:t>
            </a:r>
            <a:endParaRPr lang="en-US" sz="1250" dirty="0"/>
          </a:p>
        </p:txBody>
      </p:sp>
      <p:sp>
        <p:nvSpPr>
          <p:cNvPr id="9" name="Text 7"/>
          <p:cNvSpPr/>
          <p:nvPr/>
        </p:nvSpPr>
        <p:spPr>
          <a:xfrm>
            <a:off x="8394192" y="1444752"/>
            <a:ext cx="3127248" cy="210312"/>
          </a:xfrm>
          <a:prstGeom prst="rect">
            <a:avLst/>
          </a:prstGeom>
          <a:noFill/>
          <a:ln/>
        </p:spPr>
        <p:txBody>
          <a:bodyPr wrap="square" lIns="0" tIns="0" rIns="0" bIns="0" rtlCol="0" anchor="ctr">
            <a:normAutofit/>
          </a:bodyPr>
          <a:lstStyle/>
          <a:p>
            <a:pPr marL="0" indent="0">
              <a:buNone/>
            </a:pPr>
            <a:r>
              <a:rPr lang="en-US" sz="1280" b="1" dirty="0">
                <a:solidFill>
                  <a:srgbClr val="7C3AED"/>
                </a:solidFill>
              </a:rPr>
              <a:t>JUnit 5</a:t>
            </a:r>
            <a:endParaRPr lang="en-US" sz="1280" dirty="0"/>
          </a:p>
        </p:txBody>
      </p:sp>
      <p:sp>
        <p:nvSpPr>
          <p:cNvPr id="10" name="Text 8"/>
          <p:cNvSpPr/>
          <p:nvPr/>
        </p:nvSpPr>
        <p:spPr>
          <a:xfrm>
            <a:off x="685800" y="2990088"/>
            <a:ext cx="3364992" cy="10972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REST API istekleri ve doğrulamaları.</a:t>
            </a:r>
            <a:endParaRPr lang="en-US" sz="1250" dirty="0"/>
          </a:p>
        </p:txBody>
      </p:sp>
      <p:sp>
        <p:nvSpPr>
          <p:cNvPr id="11" name="Text 9"/>
          <p:cNvSpPr/>
          <p:nvPr/>
        </p:nvSpPr>
        <p:spPr>
          <a:xfrm>
            <a:off x="804672" y="3108960"/>
            <a:ext cx="3127248" cy="210312"/>
          </a:xfrm>
          <a:prstGeom prst="rect">
            <a:avLst/>
          </a:prstGeom>
          <a:noFill/>
          <a:ln/>
        </p:spPr>
        <p:txBody>
          <a:bodyPr wrap="square" lIns="0" tIns="0" rIns="0" bIns="0" rtlCol="0" anchor="ctr">
            <a:normAutofit/>
          </a:bodyPr>
          <a:lstStyle/>
          <a:p>
            <a:pPr marL="0" indent="0">
              <a:buNone/>
            </a:pPr>
            <a:r>
              <a:rPr lang="en-US" sz="1280" b="1" dirty="0">
                <a:solidFill>
                  <a:srgbClr val="D97706"/>
                </a:solidFill>
              </a:rPr>
              <a:t>Rest Assured</a:t>
            </a:r>
            <a:endParaRPr lang="en-US" sz="1280" dirty="0"/>
          </a:p>
        </p:txBody>
      </p:sp>
      <p:sp>
        <p:nvSpPr>
          <p:cNvPr id="12" name="Text 10"/>
          <p:cNvSpPr/>
          <p:nvPr/>
        </p:nvSpPr>
        <p:spPr>
          <a:xfrm>
            <a:off x="4480560" y="2990088"/>
            <a:ext cx="3364992" cy="10972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Java nesnesini JSON request body’ye dönüştürme.</a:t>
            </a:r>
            <a:endParaRPr lang="en-US" sz="1250" dirty="0"/>
          </a:p>
        </p:txBody>
      </p:sp>
      <p:sp>
        <p:nvSpPr>
          <p:cNvPr id="13" name="Text 11"/>
          <p:cNvSpPr/>
          <p:nvPr/>
        </p:nvSpPr>
        <p:spPr>
          <a:xfrm>
            <a:off x="4599432" y="3108960"/>
            <a:ext cx="3127248" cy="210312"/>
          </a:xfrm>
          <a:prstGeom prst="rect">
            <a:avLst/>
          </a:prstGeom>
          <a:noFill/>
          <a:ln/>
        </p:spPr>
        <p:txBody>
          <a:bodyPr wrap="square" lIns="0" tIns="0" rIns="0" bIns="0" rtlCol="0" anchor="ctr">
            <a:normAutofit/>
          </a:bodyPr>
          <a:lstStyle/>
          <a:p>
            <a:pPr marL="0" indent="0">
              <a:buNone/>
            </a:pPr>
            <a:r>
              <a:rPr lang="en-US" sz="1280" b="1" dirty="0">
                <a:solidFill>
                  <a:srgbClr val="16A34A"/>
                </a:solidFill>
              </a:rPr>
              <a:t>Jackson</a:t>
            </a:r>
            <a:endParaRPr lang="en-US" sz="1280" dirty="0"/>
          </a:p>
        </p:txBody>
      </p:sp>
      <p:sp>
        <p:nvSpPr>
          <p:cNvPr id="14" name="Text 12"/>
          <p:cNvSpPr/>
          <p:nvPr/>
        </p:nvSpPr>
        <p:spPr>
          <a:xfrm>
            <a:off x="8275320" y="2990088"/>
            <a:ext cx="3364992" cy="10972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Maven içinde JUnit test raporlarının üretilmesi.</a:t>
            </a:r>
            <a:endParaRPr lang="en-US" sz="1250" dirty="0"/>
          </a:p>
        </p:txBody>
      </p:sp>
      <p:sp>
        <p:nvSpPr>
          <p:cNvPr id="15" name="Text 13"/>
          <p:cNvSpPr/>
          <p:nvPr/>
        </p:nvSpPr>
        <p:spPr>
          <a:xfrm>
            <a:off x="8394192" y="3108960"/>
            <a:ext cx="3127248" cy="210312"/>
          </a:xfrm>
          <a:prstGeom prst="rect">
            <a:avLst/>
          </a:prstGeom>
          <a:noFill/>
          <a:ln/>
        </p:spPr>
        <p:txBody>
          <a:bodyPr wrap="square" lIns="0" tIns="0" rIns="0" bIns="0" rtlCol="0" anchor="ctr">
            <a:normAutofit/>
          </a:bodyPr>
          <a:lstStyle/>
          <a:p>
            <a:pPr marL="0" indent="0">
              <a:buNone/>
            </a:pPr>
            <a:r>
              <a:rPr lang="en-US" sz="1280" b="1" dirty="0">
                <a:solidFill>
                  <a:srgbClr val="0891B2"/>
                </a:solidFill>
              </a:rPr>
              <a:t>Surefire</a:t>
            </a:r>
            <a:endParaRPr lang="en-US" sz="1280" dirty="0"/>
          </a:p>
        </p:txBody>
      </p:sp>
      <p:sp>
        <p:nvSpPr>
          <p:cNvPr id="16" name="Text 14"/>
          <p:cNvSpPr/>
          <p:nvPr/>
        </p:nvSpPr>
        <p:spPr>
          <a:xfrm>
            <a:off x="2852928" y="4892040"/>
            <a:ext cx="6492240" cy="1207008"/>
          </a:xfrm>
          <a:prstGeom prst="rect">
            <a:avLst/>
          </a:prstGeom>
          <a:solidFill>
            <a:srgbClr val="111827"/>
          </a:solidFill>
          <a:ln w="8890">
            <a:solidFill>
              <a:srgbClr val="1F2937"/>
            </a:solidFill>
          </a:ln>
        </p:spPr>
        <p:txBody>
          <a:bodyPr wrap="square" lIns="2286" tIns="2286" rIns="2286" bIns="2286" rtlCol="0" anchor="ctr">
            <a:normAutofit/>
          </a:bodyPr>
          <a:lstStyle/>
          <a:p>
            <a:pPr marL="0" indent="0">
              <a:buNone/>
            </a:pPr>
            <a:r>
              <a:rPr lang="en-US" sz="920" dirty="0">
                <a:solidFill>
                  <a:srgbClr val="E5E7EB"/>
                </a:solidFill>
                <a:latin typeface="Consolas" pitchFamily="34" charset="0"/>
                <a:ea typeface="Consolas" pitchFamily="34" charset="-122"/>
                <a:cs typeface="Consolas" pitchFamily="34" charset="-120"/>
              </a:rPr>
              <a:t>&lt;dependency&gt;</a:t>
            </a:r>
            <a:endParaRPr lang="en-US" sz="920" dirty="0"/>
          </a:p>
          <a:p>
            <a:pPr marL="0" indent="0">
              <a:buNone/>
            </a:pPr>
            <a:r>
              <a:rPr lang="en-US" sz="920" dirty="0">
                <a:solidFill>
                  <a:srgbClr val="E5E7EB"/>
                </a:solidFill>
                <a:latin typeface="Consolas" pitchFamily="34" charset="0"/>
                <a:ea typeface="Consolas" pitchFamily="34" charset="-122"/>
                <a:cs typeface="Consolas" pitchFamily="34" charset="-120"/>
              </a:rPr>
              <a:t>  &lt;groupId&gt;io.rest-assured&lt;/groupId&gt;</a:t>
            </a:r>
            <a:endParaRPr lang="en-US" sz="920" dirty="0"/>
          </a:p>
          <a:p>
            <a:pPr marL="0" indent="0">
              <a:buNone/>
            </a:pPr>
            <a:r>
              <a:rPr lang="en-US" sz="920" dirty="0">
                <a:solidFill>
                  <a:srgbClr val="E5E7EB"/>
                </a:solidFill>
                <a:latin typeface="Consolas" pitchFamily="34" charset="0"/>
                <a:ea typeface="Consolas" pitchFamily="34" charset="-122"/>
                <a:cs typeface="Consolas" pitchFamily="34" charset="-120"/>
              </a:rPr>
              <a:t>  &lt;artifactId&gt;rest-assured&lt;/artifactId&gt;</a:t>
            </a:r>
            <a:endParaRPr lang="en-US" sz="920" dirty="0"/>
          </a:p>
          <a:p>
            <a:pPr marL="0" indent="0">
              <a:buNone/>
            </a:pPr>
            <a:r>
              <a:rPr lang="en-US" sz="920" dirty="0">
                <a:solidFill>
                  <a:srgbClr val="E5E7EB"/>
                </a:solidFill>
                <a:latin typeface="Consolas" pitchFamily="34" charset="0"/>
                <a:ea typeface="Consolas" pitchFamily="34" charset="-122"/>
                <a:cs typeface="Consolas" pitchFamily="34" charset="-120"/>
              </a:rPr>
              <a:t>  &lt;version&gt;5.4.0&lt;/version&gt;</a:t>
            </a:r>
            <a:endParaRPr lang="en-US" sz="920" dirty="0"/>
          </a:p>
          <a:p>
            <a:pPr marL="0" indent="0">
              <a:buNone/>
            </a:pPr>
            <a:r>
              <a:rPr lang="en-US" sz="920" dirty="0">
                <a:solidFill>
                  <a:srgbClr val="E5E7EB"/>
                </a:solidFill>
                <a:latin typeface="Consolas" pitchFamily="34" charset="0"/>
                <a:ea typeface="Consolas" pitchFamily="34" charset="-122"/>
                <a:cs typeface="Consolas" pitchFamily="34" charset="-120"/>
              </a:rPr>
              <a:t>  &lt;scope&gt;test&lt;/scope&gt;</a:t>
            </a:r>
            <a:endParaRPr lang="en-US" sz="920" dirty="0"/>
          </a:p>
          <a:p>
            <a:pPr marL="0" indent="0">
              <a:buNone/>
            </a:pPr>
            <a:r>
              <a:rPr lang="en-US" sz="920" dirty="0">
                <a:solidFill>
                  <a:srgbClr val="E5E7EB"/>
                </a:solidFill>
                <a:latin typeface="Consolas" pitchFamily="34" charset="0"/>
                <a:ea typeface="Consolas" pitchFamily="34" charset="-122"/>
                <a:cs typeface="Consolas" pitchFamily="34" charset="-120"/>
              </a:rPr>
              <a:t>&lt;/dependency&gt;</a:t>
            </a:r>
            <a:endParaRPr lang="en-US" sz="92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1792" y="420624"/>
            <a:ext cx="8412480" cy="384048"/>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Proje Yapısı</a:t>
            </a:r>
            <a:endParaRPr lang="en-US" sz="2500" dirty="0"/>
          </a:p>
        </p:txBody>
      </p:sp>
      <p:sp>
        <p:nvSpPr>
          <p:cNvPr id="3" name="Text 1"/>
          <p:cNvSpPr/>
          <p:nvPr/>
        </p:nvSpPr>
        <p:spPr>
          <a:xfrm>
            <a:off x="640080" y="868680"/>
            <a:ext cx="9326880" cy="237744"/>
          </a:xfrm>
          <a:prstGeom prst="rect">
            <a:avLst/>
          </a:prstGeom>
          <a:noFill/>
          <a:ln/>
        </p:spPr>
        <p:txBody>
          <a:bodyPr wrap="square" lIns="0" tIns="0" rIns="0" bIns="0" rtlCol="0" anchor="ctr"/>
          <a:lstStyle/>
          <a:p>
            <a:pPr marL="0" indent="0">
              <a:buNone/>
            </a:pPr>
            <a:r>
              <a:rPr lang="en-US" sz="1080" dirty="0">
                <a:solidFill>
                  <a:srgbClr val="64748B"/>
                </a:solidFill>
              </a:rPr>
              <a:t>Kodlar küçük ama düzenli bir test otomasyonu yapısına ayrıldı</a:t>
            </a:r>
            <a:endParaRPr lang="en-US" sz="1080" dirty="0"/>
          </a:p>
        </p:txBody>
      </p:sp>
      <p:sp>
        <p:nvSpPr>
          <p:cNvPr id="4" name="Text 2"/>
          <p:cNvSpPr/>
          <p:nvPr/>
        </p:nvSpPr>
        <p:spPr>
          <a:xfrm>
            <a:off x="822960" y="1389888"/>
            <a:ext cx="4800600" cy="3977640"/>
          </a:xfrm>
          <a:prstGeom prst="rect">
            <a:avLst/>
          </a:prstGeom>
          <a:solidFill>
            <a:srgbClr val="111827"/>
          </a:solidFill>
          <a:ln w="8890">
            <a:solidFill>
              <a:srgbClr val="1F2937"/>
            </a:solidFill>
          </a:ln>
        </p:spPr>
        <p:txBody>
          <a:bodyPr wrap="square" lIns="2286" tIns="2286" rIns="2286" bIns="2286" rtlCol="0" anchor="ctr">
            <a:normAutofit/>
          </a:bodyPr>
          <a:lstStyle/>
          <a:p>
            <a:pPr marL="0" indent="0">
              <a:buNone/>
            </a:pPr>
            <a:r>
              <a:rPr lang="en-US" sz="1400" dirty="0">
                <a:solidFill>
                  <a:srgbClr val="E5E7EB"/>
                </a:solidFill>
                <a:latin typeface="Consolas" pitchFamily="34" charset="0"/>
                <a:ea typeface="Consolas" pitchFamily="34" charset="-122"/>
                <a:cs typeface="Consolas" pitchFamily="34" charset="-120"/>
              </a:rPr>
              <a:t>src/test/java/com/example/api</a:t>
            </a:r>
            <a:endParaRPr lang="en-US" sz="1400" dirty="0"/>
          </a:p>
          <a:p>
            <a:pPr marL="0" indent="0">
              <a:buNone/>
            </a:pPr>
            <a:r>
              <a:rPr lang="en-US" sz="1400" dirty="0">
                <a:solidFill>
                  <a:srgbClr val="E5E7EB"/>
                </a:solidFill>
                <a:latin typeface="Consolas" pitchFamily="34" charset="0"/>
                <a:ea typeface="Consolas" pitchFamily="34" charset="-122"/>
                <a:cs typeface="Consolas" pitchFamily="34" charset="-120"/>
              </a:rPr>
              <a:t>├── config</a:t>
            </a:r>
            <a:endParaRPr lang="en-US" sz="1400" dirty="0"/>
          </a:p>
          <a:p>
            <a:pPr marL="0" indent="0">
              <a:buNone/>
            </a:pPr>
            <a:r>
              <a:rPr lang="en-US" sz="1400" dirty="0">
                <a:solidFill>
                  <a:srgbClr val="E5E7EB"/>
                </a:solidFill>
                <a:latin typeface="Consolas" pitchFamily="34" charset="0"/>
                <a:ea typeface="Consolas" pitchFamily="34" charset="-122"/>
                <a:cs typeface="Consolas" pitchFamily="34" charset="-120"/>
              </a:rPr>
              <a:t>│   └── ApiConfig.java</a:t>
            </a:r>
            <a:endParaRPr lang="en-US" sz="1400" dirty="0"/>
          </a:p>
          <a:p>
            <a:pPr marL="0" indent="0">
              <a:buNone/>
            </a:pPr>
            <a:r>
              <a:rPr lang="en-US" sz="1400" dirty="0">
                <a:solidFill>
                  <a:srgbClr val="E5E7EB"/>
                </a:solidFill>
                <a:latin typeface="Consolas" pitchFamily="34" charset="0"/>
                <a:ea typeface="Consolas" pitchFamily="34" charset="-122"/>
                <a:cs typeface="Consolas" pitchFamily="34" charset="-120"/>
              </a:rPr>
              <a:t>├── model</a:t>
            </a:r>
            <a:endParaRPr lang="en-US" sz="1400" dirty="0"/>
          </a:p>
          <a:p>
            <a:pPr marL="0" indent="0">
              <a:buNone/>
            </a:pPr>
            <a:r>
              <a:rPr lang="en-US" sz="1400" dirty="0">
                <a:solidFill>
                  <a:srgbClr val="E5E7EB"/>
                </a:solidFill>
                <a:latin typeface="Consolas" pitchFamily="34" charset="0"/>
                <a:ea typeface="Consolas" pitchFamily="34" charset="-122"/>
                <a:cs typeface="Consolas" pitchFamily="34" charset="-120"/>
              </a:rPr>
              <a:t>│   └── PostRequest.java</a:t>
            </a:r>
            <a:endParaRPr lang="en-US" sz="1400" dirty="0"/>
          </a:p>
          <a:p>
            <a:pPr marL="0" indent="0">
              <a:buNone/>
            </a:pPr>
            <a:r>
              <a:rPr lang="en-US" sz="1400" dirty="0">
                <a:solidFill>
                  <a:srgbClr val="E5E7EB"/>
                </a:solidFill>
                <a:latin typeface="Consolas" pitchFamily="34" charset="0"/>
                <a:ea typeface="Consolas" pitchFamily="34" charset="-122"/>
                <a:cs typeface="Consolas" pitchFamily="34" charset="-120"/>
              </a:rPr>
              <a:t>└── test</a:t>
            </a:r>
            <a:endParaRPr lang="en-US" sz="1400" dirty="0"/>
          </a:p>
          <a:p>
            <a:pPr marL="0" indent="0">
              <a:buNone/>
            </a:pPr>
            <a:r>
              <a:rPr lang="en-US" sz="1400" dirty="0">
                <a:solidFill>
                  <a:srgbClr val="E5E7EB"/>
                </a:solidFill>
                <a:latin typeface="Consolas" pitchFamily="34" charset="0"/>
                <a:ea typeface="Consolas" pitchFamily="34" charset="-122"/>
                <a:cs typeface="Consolas" pitchFamily="34" charset="-120"/>
              </a:rPr>
              <a:t>    ├── BaseApiTest.java</a:t>
            </a:r>
            <a:endParaRPr lang="en-US" sz="1400" dirty="0"/>
          </a:p>
          <a:p>
            <a:pPr marL="0" indent="0">
              <a:buNone/>
            </a:pPr>
            <a:r>
              <a:rPr lang="en-US" sz="1400" dirty="0">
                <a:solidFill>
                  <a:srgbClr val="E5E7EB"/>
                </a:solidFill>
                <a:latin typeface="Consolas" pitchFamily="34" charset="0"/>
                <a:ea typeface="Consolas" pitchFamily="34" charset="-122"/>
                <a:cs typeface="Consolas" pitchFamily="34" charset="-120"/>
              </a:rPr>
              <a:t>    └── JsonPlaceholderRegressionTest.java</a:t>
            </a:r>
            <a:endParaRPr lang="en-US" sz="1400" dirty="0"/>
          </a:p>
        </p:txBody>
      </p:sp>
      <p:sp>
        <p:nvSpPr>
          <p:cNvPr id="5" name="Text 3"/>
          <p:cNvSpPr/>
          <p:nvPr/>
        </p:nvSpPr>
        <p:spPr>
          <a:xfrm>
            <a:off x="6080760" y="1417320"/>
            <a:ext cx="5166360" cy="8686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r>
              <a:rPr lang="en-US" sz="1250" dirty="0">
                <a:solidFill>
                  <a:srgbClr val="475569"/>
                </a:solidFill>
              </a:rPr>
              <a:t>Base URI ve maksimum response time gibi ortak sabitleri tutar.</a:t>
            </a:r>
            <a:endParaRPr lang="en-US" sz="1250" dirty="0"/>
          </a:p>
        </p:txBody>
      </p:sp>
      <p:sp>
        <p:nvSpPr>
          <p:cNvPr id="6" name="Text 4"/>
          <p:cNvSpPr/>
          <p:nvPr/>
        </p:nvSpPr>
        <p:spPr>
          <a:xfrm>
            <a:off x="6199632" y="1536192"/>
            <a:ext cx="4928616" cy="210312"/>
          </a:xfrm>
          <a:prstGeom prst="rect">
            <a:avLst/>
          </a:prstGeom>
          <a:noFill/>
          <a:ln/>
        </p:spPr>
        <p:txBody>
          <a:bodyPr wrap="square" lIns="0" tIns="0" rIns="0" bIns="0" rtlCol="0" anchor="ctr">
            <a:normAutofit/>
          </a:bodyPr>
          <a:lstStyle/>
          <a:p>
            <a:pPr marL="0" indent="0">
              <a:buNone/>
            </a:pPr>
            <a:r>
              <a:rPr lang="en-US" sz="1280" b="1" dirty="0">
                <a:solidFill>
                  <a:srgbClr val="2563EB"/>
                </a:solidFill>
              </a:rPr>
              <a:t>ApiConfig.java</a:t>
            </a:r>
            <a:endParaRPr lang="en-US" sz="1280" dirty="0"/>
          </a:p>
        </p:txBody>
      </p:sp>
      <p:sp>
        <p:nvSpPr>
          <p:cNvPr id="7" name="Text 5"/>
          <p:cNvSpPr/>
          <p:nvPr/>
        </p:nvSpPr>
        <p:spPr>
          <a:xfrm>
            <a:off x="6080760" y="2487168"/>
            <a:ext cx="5166360" cy="8686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r>
              <a:rPr lang="en-US" sz="1250" dirty="0">
                <a:solidFill>
                  <a:srgbClr val="475569"/>
                </a:solidFill>
              </a:rPr>
              <a:t>POST isteğinde gönderilecek title, body ve userId alanlarını model olarak temsil eder.</a:t>
            </a:r>
            <a:endParaRPr lang="en-US" sz="1250" dirty="0"/>
          </a:p>
        </p:txBody>
      </p:sp>
      <p:sp>
        <p:nvSpPr>
          <p:cNvPr id="8" name="Text 6"/>
          <p:cNvSpPr/>
          <p:nvPr/>
        </p:nvSpPr>
        <p:spPr>
          <a:xfrm>
            <a:off x="6199632" y="2606040"/>
            <a:ext cx="4928616" cy="210312"/>
          </a:xfrm>
          <a:prstGeom prst="rect">
            <a:avLst/>
          </a:prstGeom>
          <a:noFill/>
          <a:ln/>
        </p:spPr>
        <p:txBody>
          <a:bodyPr wrap="square" lIns="0" tIns="0" rIns="0" bIns="0" rtlCol="0" anchor="ctr">
            <a:normAutofit/>
          </a:bodyPr>
          <a:lstStyle/>
          <a:p>
            <a:pPr marL="0" indent="0">
              <a:buNone/>
            </a:pPr>
            <a:r>
              <a:rPr lang="en-US" sz="1280" b="1" dirty="0">
                <a:solidFill>
                  <a:srgbClr val="0D9488"/>
                </a:solidFill>
              </a:rPr>
              <a:t>PostRequest.java</a:t>
            </a:r>
            <a:endParaRPr lang="en-US" sz="1280" dirty="0"/>
          </a:p>
        </p:txBody>
      </p:sp>
      <p:sp>
        <p:nvSpPr>
          <p:cNvPr id="9" name="Text 7"/>
          <p:cNvSpPr/>
          <p:nvPr/>
        </p:nvSpPr>
        <p:spPr>
          <a:xfrm>
            <a:off x="6080760" y="3557016"/>
            <a:ext cx="5166360" cy="8686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r>
              <a:rPr lang="en-US" sz="1250" dirty="0">
                <a:solidFill>
                  <a:srgbClr val="475569"/>
                </a:solidFill>
              </a:rPr>
              <a:t>Rest Assured ortak request specification ayarlarını hazırlar.</a:t>
            </a:r>
            <a:endParaRPr lang="en-US" sz="1250" dirty="0"/>
          </a:p>
        </p:txBody>
      </p:sp>
      <p:sp>
        <p:nvSpPr>
          <p:cNvPr id="10" name="Text 8"/>
          <p:cNvSpPr/>
          <p:nvPr/>
        </p:nvSpPr>
        <p:spPr>
          <a:xfrm>
            <a:off x="6199632" y="3675888"/>
            <a:ext cx="4928616" cy="210312"/>
          </a:xfrm>
          <a:prstGeom prst="rect">
            <a:avLst/>
          </a:prstGeom>
          <a:noFill/>
          <a:ln/>
        </p:spPr>
        <p:txBody>
          <a:bodyPr wrap="square" lIns="0" tIns="0" rIns="0" bIns="0" rtlCol="0" anchor="ctr">
            <a:normAutofit/>
          </a:bodyPr>
          <a:lstStyle/>
          <a:p>
            <a:pPr marL="0" indent="0">
              <a:buNone/>
            </a:pPr>
            <a:r>
              <a:rPr lang="en-US" sz="1280" b="1" dirty="0">
                <a:solidFill>
                  <a:srgbClr val="7C3AED"/>
                </a:solidFill>
              </a:rPr>
              <a:t>BaseApiTest.java</a:t>
            </a:r>
            <a:endParaRPr lang="en-US" sz="1280" dirty="0"/>
          </a:p>
        </p:txBody>
      </p:sp>
      <p:sp>
        <p:nvSpPr>
          <p:cNvPr id="11" name="Text 9"/>
          <p:cNvSpPr/>
          <p:nvPr/>
        </p:nvSpPr>
        <p:spPr>
          <a:xfrm>
            <a:off x="6080760" y="4626864"/>
            <a:ext cx="5166360" cy="8686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r>
              <a:rPr lang="en-US" sz="1250" dirty="0">
                <a:solidFill>
                  <a:srgbClr val="475569"/>
                </a:solidFill>
              </a:rPr>
              <a:t>GET ve POST regresyon test senaryolarının bulunduğu ana test sınıfıdır.</a:t>
            </a:r>
            <a:endParaRPr lang="en-US" sz="1250" dirty="0"/>
          </a:p>
        </p:txBody>
      </p:sp>
      <p:sp>
        <p:nvSpPr>
          <p:cNvPr id="12" name="Text 10"/>
          <p:cNvSpPr/>
          <p:nvPr/>
        </p:nvSpPr>
        <p:spPr>
          <a:xfrm>
            <a:off x="6199632" y="4745736"/>
            <a:ext cx="4928616" cy="210312"/>
          </a:xfrm>
          <a:prstGeom prst="rect">
            <a:avLst/>
          </a:prstGeom>
          <a:noFill/>
          <a:ln/>
        </p:spPr>
        <p:txBody>
          <a:bodyPr wrap="square" lIns="0" tIns="0" rIns="0" bIns="0" rtlCol="0" anchor="ctr">
            <a:normAutofit/>
          </a:bodyPr>
          <a:lstStyle/>
          <a:p>
            <a:pPr marL="0" indent="0">
              <a:buNone/>
            </a:pPr>
            <a:r>
              <a:rPr lang="en-US" sz="1280" b="1" dirty="0">
                <a:solidFill>
                  <a:srgbClr val="D97706"/>
                </a:solidFill>
              </a:rPr>
              <a:t>JsonPlaceholderRegressionTest.java</a:t>
            </a:r>
            <a:endParaRPr lang="en-US" sz="128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21792" y="420624"/>
            <a:ext cx="8412480" cy="384048"/>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Rest Assured Test Akışı</a:t>
            </a:r>
            <a:endParaRPr lang="en-US" sz="2500" dirty="0"/>
          </a:p>
        </p:txBody>
      </p:sp>
      <p:sp>
        <p:nvSpPr>
          <p:cNvPr id="3" name="Text 1"/>
          <p:cNvSpPr/>
          <p:nvPr/>
        </p:nvSpPr>
        <p:spPr>
          <a:xfrm>
            <a:off x="640080" y="868680"/>
            <a:ext cx="9326880" cy="237744"/>
          </a:xfrm>
          <a:prstGeom prst="rect">
            <a:avLst/>
          </a:prstGeom>
          <a:noFill/>
          <a:ln/>
        </p:spPr>
        <p:txBody>
          <a:bodyPr wrap="square" lIns="0" tIns="0" rIns="0" bIns="0" rtlCol="0" anchor="ctr"/>
          <a:lstStyle/>
          <a:p>
            <a:pPr marL="0" indent="0">
              <a:buNone/>
            </a:pPr>
            <a:r>
              <a:rPr lang="en-US" sz="1080" dirty="0">
                <a:solidFill>
                  <a:srgbClr val="64748B"/>
                </a:solidFill>
              </a:rPr>
              <a:t>Given – When – Then yapısı okunabilir testler yazmayı sağlar</a:t>
            </a:r>
            <a:endParaRPr lang="en-US" sz="1080" dirty="0"/>
          </a:p>
        </p:txBody>
      </p:sp>
      <p:sp>
        <p:nvSpPr>
          <p:cNvPr id="4" name="Text 2"/>
          <p:cNvSpPr/>
          <p:nvPr/>
        </p:nvSpPr>
        <p:spPr>
          <a:xfrm>
            <a:off x="841248" y="1691640"/>
            <a:ext cx="2697480" cy="182880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err="1">
                <a:solidFill>
                  <a:srgbClr val="475569"/>
                </a:solidFill>
              </a:rPr>
              <a:t>İstek</a:t>
            </a:r>
            <a:r>
              <a:rPr lang="en-US" sz="1250" dirty="0">
                <a:solidFill>
                  <a:srgbClr val="475569"/>
                </a:solidFill>
              </a:rPr>
              <a:t> öncesi hazırlık: header, content type, request body ve ortak request spec eklenir.</a:t>
            </a:r>
            <a:endParaRPr lang="en-US" sz="1250" dirty="0"/>
          </a:p>
        </p:txBody>
      </p:sp>
      <p:sp>
        <p:nvSpPr>
          <p:cNvPr id="5" name="Text 3"/>
          <p:cNvSpPr/>
          <p:nvPr/>
        </p:nvSpPr>
        <p:spPr>
          <a:xfrm>
            <a:off x="960120" y="1810512"/>
            <a:ext cx="2459736" cy="210312"/>
          </a:xfrm>
          <a:prstGeom prst="rect">
            <a:avLst/>
          </a:prstGeom>
          <a:noFill/>
          <a:ln/>
        </p:spPr>
        <p:txBody>
          <a:bodyPr wrap="square" lIns="0" tIns="0" rIns="0" bIns="0" rtlCol="0" anchor="ctr">
            <a:normAutofit/>
          </a:bodyPr>
          <a:lstStyle/>
          <a:p>
            <a:pPr marL="0" indent="0">
              <a:buNone/>
            </a:pPr>
            <a:r>
              <a:rPr lang="en-US" sz="1280" b="1" dirty="0">
                <a:solidFill>
                  <a:srgbClr val="2563EB"/>
                </a:solidFill>
              </a:rPr>
              <a:t>GIVEN</a:t>
            </a:r>
            <a:endParaRPr lang="en-US" sz="1280" dirty="0"/>
          </a:p>
        </p:txBody>
      </p:sp>
      <p:sp>
        <p:nvSpPr>
          <p:cNvPr id="6" name="Text 4"/>
          <p:cNvSpPr/>
          <p:nvPr/>
        </p:nvSpPr>
        <p:spPr>
          <a:xfrm>
            <a:off x="4617720" y="1691640"/>
            <a:ext cx="2697480" cy="182880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API endpointine GET veya POST isteği gönderilir.</a:t>
            </a:r>
            <a:endParaRPr lang="en-US" sz="1250" dirty="0"/>
          </a:p>
        </p:txBody>
      </p:sp>
      <p:sp>
        <p:nvSpPr>
          <p:cNvPr id="7" name="Text 5"/>
          <p:cNvSpPr/>
          <p:nvPr/>
        </p:nvSpPr>
        <p:spPr>
          <a:xfrm>
            <a:off x="4736592" y="1810512"/>
            <a:ext cx="2459736" cy="210312"/>
          </a:xfrm>
          <a:prstGeom prst="rect">
            <a:avLst/>
          </a:prstGeom>
          <a:noFill/>
          <a:ln/>
        </p:spPr>
        <p:txBody>
          <a:bodyPr wrap="square" lIns="0" tIns="0" rIns="0" bIns="0" rtlCol="0" anchor="ctr">
            <a:normAutofit/>
          </a:bodyPr>
          <a:lstStyle/>
          <a:p>
            <a:pPr marL="0" indent="0">
              <a:buNone/>
            </a:pPr>
            <a:r>
              <a:rPr lang="en-US" sz="1280" b="1" dirty="0">
                <a:solidFill>
                  <a:srgbClr val="0D9488"/>
                </a:solidFill>
              </a:rPr>
              <a:t>WHEN</a:t>
            </a:r>
            <a:endParaRPr lang="en-US" sz="1280" dirty="0"/>
          </a:p>
        </p:txBody>
      </p:sp>
      <p:sp>
        <p:nvSpPr>
          <p:cNvPr id="8" name="Text 6"/>
          <p:cNvSpPr/>
          <p:nvPr/>
        </p:nvSpPr>
        <p:spPr>
          <a:xfrm>
            <a:off x="8394192" y="1691640"/>
            <a:ext cx="2697480" cy="182880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Status code, response body ve response time kontrolleri yapılır.</a:t>
            </a:r>
            <a:endParaRPr lang="en-US" sz="1250" dirty="0"/>
          </a:p>
        </p:txBody>
      </p:sp>
      <p:sp>
        <p:nvSpPr>
          <p:cNvPr id="9" name="Text 7"/>
          <p:cNvSpPr/>
          <p:nvPr/>
        </p:nvSpPr>
        <p:spPr>
          <a:xfrm>
            <a:off x="8513064" y="1810512"/>
            <a:ext cx="2459736" cy="210312"/>
          </a:xfrm>
          <a:prstGeom prst="rect">
            <a:avLst/>
          </a:prstGeom>
          <a:noFill/>
          <a:ln/>
        </p:spPr>
        <p:txBody>
          <a:bodyPr wrap="square" lIns="0" tIns="0" rIns="0" bIns="0" rtlCol="0" anchor="ctr">
            <a:normAutofit/>
          </a:bodyPr>
          <a:lstStyle/>
          <a:p>
            <a:pPr marL="0" indent="0">
              <a:buNone/>
            </a:pPr>
            <a:r>
              <a:rPr lang="en-US" sz="1280" b="1" dirty="0">
                <a:solidFill>
                  <a:srgbClr val="7C3AED"/>
                </a:solidFill>
              </a:rPr>
              <a:t>THEN</a:t>
            </a:r>
            <a:endParaRPr lang="en-US" sz="1280" dirty="0"/>
          </a:p>
        </p:txBody>
      </p:sp>
      <p:sp>
        <p:nvSpPr>
          <p:cNvPr id="10" name="Shape 8"/>
          <p:cNvSpPr/>
          <p:nvPr/>
        </p:nvSpPr>
        <p:spPr>
          <a:xfrm>
            <a:off x="3566160" y="2606040"/>
            <a:ext cx="1051560" cy="0"/>
          </a:xfrm>
          <a:prstGeom prst="line">
            <a:avLst/>
          </a:prstGeom>
          <a:noFill/>
          <a:ln w="17780">
            <a:solidFill>
              <a:srgbClr val="93A4B8"/>
            </a:solidFill>
            <a:prstDash val="solid"/>
            <a:tailEnd type="triangle"/>
          </a:ln>
        </p:spPr>
        <p:txBody>
          <a:bodyPr/>
          <a:lstStyle/>
          <a:p>
            <a:endParaRPr lang="tr-TR"/>
          </a:p>
        </p:txBody>
      </p:sp>
      <p:sp>
        <p:nvSpPr>
          <p:cNvPr id="11" name="Shape 9"/>
          <p:cNvSpPr/>
          <p:nvPr/>
        </p:nvSpPr>
        <p:spPr>
          <a:xfrm>
            <a:off x="7342632" y="2606040"/>
            <a:ext cx="1051560" cy="0"/>
          </a:xfrm>
          <a:prstGeom prst="line">
            <a:avLst/>
          </a:prstGeom>
          <a:noFill/>
          <a:ln w="17780">
            <a:solidFill>
              <a:srgbClr val="93A4B8"/>
            </a:solidFill>
            <a:prstDash val="solid"/>
            <a:tailEnd type="triangle"/>
          </a:ln>
        </p:spPr>
        <p:txBody>
          <a:bodyPr/>
          <a:lstStyle/>
          <a:p>
            <a:endParaRPr lang="tr-TR"/>
          </a:p>
        </p:txBody>
      </p:sp>
      <p:sp>
        <p:nvSpPr>
          <p:cNvPr id="12" name="Text 10"/>
          <p:cNvSpPr/>
          <p:nvPr/>
        </p:nvSpPr>
        <p:spPr>
          <a:xfrm>
            <a:off x="2057400" y="4343400"/>
            <a:ext cx="8001000" cy="1417320"/>
          </a:xfrm>
          <a:prstGeom prst="rect">
            <a:avLst/>
          </a:prstGeom>
          <a:solidFill>
            <a:srgbClr val="111827"/>
          </a:solidFill>
          <a:ln w="8890">
            <a:solidFill>
              <a:srgbClr val="1F2937"/>
            </a:solidFill>
          </a:ln>
        </p:spPr>
        <p:txBody>
          <a:bodyPr wrap="square" lIns="2286" tIns="2286" rIns="2286" bIns="2286" rtlCol="0" anchor="ctr">
            <a:normAutofit/>
          </a:bodyPr>
          <a:lstStyle/>
          <a:p>
            <a:pPr marL="0" indent="0">
              <a:buNone/>
            </a:pPr>
            <a:r>
              <a:rPr lang="en-US" sz="1080" dirty="0">
                <a:solidFill>
                  <a:srgbClr val="E5E7EB"/>
                </a:solidFill>
                <a:latin typeface="Consolas" pitchFamily="34" charset="0"/>
                <a:ea typeface="Consolas" pitchFamily="34" charset="-122"/>
                <a:cs typeface="Consolas" pitchFamily="34" charset="-120"/>
              </a:rPr>
              <a:t>given()</a:t>
            </a:r>
            <a:endParaRPr lang="en-US" sz="1080" dirty="0"/>
          </a:p>
          <a:p>
            <a:pPr marL="0" indent="0">
              <a:buNone/>
            </a:pPr>
            <a:r>
              <a:rPr lang="en-US" sz="1080" dirty="0">
                <a:solidFill>
                  <a:srgbClr val="E5E7EB"/>
                </a:solidFill>
                <a:latin typeface="Consolas" pitchFamily="34" charset="0"/>
                <a:ea typeface="Consolas" pitchFamily="34" charset="-122"/>
                <a:cs typeface="Consolas" pitchFamily="34" charset="-120"/>
              </a:rPr>
              <a:t>  .spec(requestSpec)</a:t>
            </a:r>
            <a:endParaRPr lang="en-US" sz="1080" dirty="0"/>
          </a:p>
          <a:p>
            <a:pPr marL="0" indent="0">
              <a:buNone/>
            </a:pPr>
            <a:r>
              <a:rPr lang="en-US" sz="1080" dirty="0">
                <a:solidFill>
                  <a:srgbClr val="E5E7EB"/>
                </a:solidFill>
                <a:latin typeface="Consolas" pitchFamily="34" charset="0"/>
                <a:ea typeface="Consolas" pitchFamily="34" charset="-122"/>
                <a:cs typeface="Consolas" pitchFamily="34" charset="-120"/>
              </a:rPr>
              <a:t>.when()</a:t>
            </a:r>
            <a:endParaRPr lang="en-US" sz="1080" dirty="0"/>
          </a:p>
          <a:p>
            <a:pPr marL="0" indent="0">
              <a:buNone/>
            </a:pPr>
            <a:r>
              <a:rPr lang="en-US" sz="1080" dirty="0">
                <a:solidFill>
                  <a:srgbClr val="E5E7EB"/>
                </a:solidFill>
                <a:latin typeface="Consolas" pitchFamily="34" charset="0"/>
                <a:ea typeface="Consolas" pitchFamily="34" charset="-122"/>
                <a:cs typeface="Consolas" pitchFamily="34" charset="-120"/>
              </a:rPr>
              <a:t>  .get("/posts/{postId}", 1)</a:t>
            </a:r>
            <a:endParaRPr lang="en-US" sz="1080" dirty="0"/>
          </a:p>
          <a:p>
            <a:pPr marL="0" indent="0">
              <a:buNone/>
            </a:pPr>
            <a:r>
              <a:rPr lang="en-US" sz="1080" dirty="0">
                <a:solidFill>
                  <a:srgbClr val="E5E7EB"/>
                </a:solidFill>
                <a:latin typeface="Consolas" pitchFamily="34" charset="0"/>
                <a:ea typeface="Consolas" pitchFamily="34" charset="-122"/>
                <a:cs typeface="Consolas" pitchFamily="34" charset="-120"/>
              </a:rPr>
              <a:t>.then()</a:t>
            </a:r>
            <a:endParaRPr lang="en-US" sz="1080" dirty="0"/>
          </a:p>
          <a:p>
            <a:pPr marL="0" indent="0">
              <a:buNone/>
            </a:pPr>
            <a:r>
              <a:rPr lang="en-US" sz="1080" dirty="0">
                <a:solidFill>
                  <a:srgbClr val="E5E7EB"/>
                </a:solidFill>
                <a:latin typeface="Consolas" pitchFamily="34" charset="0"/>
                <a:ea typeface="Consolas" pitchFamily="34" charset="-122"/>
                <a:cs typeface="Consolas" pitchFamily="34" charset="-120"/>
              </a:rPr>
              <a:t>  .statusCode(200)</a:t>
            </a:r>
            <a:endParaRPr lang="en-US" sz="1080" dirty="0"/>
          </a:p>
          <a:p>
            <a:pPr marL="0" indent="0">
              <a:buNone/>
            </a:pPr>
            <a:r>
              <a:rPr lang="en-US" sz="1080" dirty="0">
                <a:solidFill>
                  <a:srgbClr val="E5E7EB"/>
                </a:solidFill>
                <a:latin typeface="Consolas" pitchFamily="34" charset="0"/>
                <a:ea typeface="Consolas" pitchFamily="34" charset="-122"/>
                <a:cs typeface="Consolas" pitchFamily="34" charset="-120"/>
              </a:rPr>
              <a:t>  .time(lessThan(ApiConfig.MAX_RESPONSE_TIME_MS));</a:t>
            </a:r>
            <a:endParaRPr lang="en-US" sz="108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21792" y="420624"/>
            <a:ext cx="8412480" cy="384048"/>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GET Senaryosu</a:t>
            </a:r>
            <a:endParaRPr lang="en-US" sz="2500" dirty="0"/>
          </a:p>
        </p:txBody>
      </p:sp>
      <p:sp>
        <p:nvSpPr>
          <p:cNvPr id="3" name="Text 1"/>
          <p:cNvSpPr/>
          <p:nvPr/>
        </p:nvSpPr>
        <p:spPr>
          <a:xfrm>
            <a:off x="640080" y="868680"/>
            <a:ext cx="9326880" cy="237744"/>
          </a:xfrm>
          <a:prstGeom prst="rect">
            <a:avLst/>
          </a:prstGeom>
          <a:noFill/>
          <a:ln/>
        </p:spPr>
        <p:txBody>
          <a:bodyPr wrap="square" lIns="0" tIns="0" rIns="0" bIns="0" rtlCol="0" anchor="ctr"/>
          <a:lstStyle/>
          <a:p>
            <a:pPr marL="0" indent="0">
              <a:buNone/>
            </a:pPr>
            <a:r>
              <a:rPr lang="en-US" sz="1080" dirty="0">
                <a:solidFill>
                  <a:srgbClr val="64748B"/>
                </a:solidFill>
              </a:rPr>
              <a:t>Var olan bir post kaydının beklenen şekilde döndüğü doğrulandı</a:t>
            </a:r>
            <a:endParaRPr lang="en-US" sz="1080" dirty="0"/>
          </a:p>
        </p:txBody>
      </p:sp>
      <p:sp>
        <p:nvSpPr>
          <p:cNvPr id="4" name="Text 2"/>
          <p:cNvSpPr/>
          <p:nvPr/>
        </p:nvSpPr>
        <p:spPr>
          <a:xfrm>
            <a:off x="804672" y="1234440"/>
            <a:ext cx="2148840" cy="310896"/>
          </a:xfrm>
          <a:prstGeom prst="rect">
            <a:avLst/>
          </a:prstGeom>
          <a:solidFill>
            <a:srgbClr val="DBEAFE"/>
          </a:solidFill>
          <a:ln>
            <a:solidFill>
              <a:srgbClr val="DBEAFE"/>
            </a:solidFill>
          </a:ln>
        </p:spPr>
        <p:txBody>
          <a:bodyPr wrap="square" lIns="254" tIns="254" rIns="254" bIns="254" rtlCol="0" anchor="ctr"/>
          <a:lstStyle/>
          <a:p>
            <a:pPr marL="0" indent="0" algn="ctr">
              <a:buNone/>
            </a:pPr>
            <a:r>
              <a:rPr lang="en-US" sz="1100" b="1" dirty="0">
                <a:solidFill>
                  <a:srgbClr val="2563EB"/>
                </a:solidFill>
              </a:rPr>
              <a:t>Endpoint: GET /posts/1</a:t>
            </a:r>
            <a:endParaRPr lang="en-US" sz="1100" dirty="0"/>
          </a:p>
        </p:txBody>
      </p:sp>
      <p:sp>
        <p:nvSpPr>
          <p:cNvPr id="5" name="Text 3"/>
          <p:cNvSpPr/>
          <p:nvPr/>
        </p:nvSpPr>
        <p:spPr>
          <a:xfrm>
            <a:off x="777240" y="1719072"/>
            <a:ext cx="5715000" cy="4434840"/>
          </a:xfrm>
          <a:prstGeom prst="rect">
            <a:avLst/>
          </a:prstGeom>
          <a:solidFill>
            <a:srgbClr val="111827"/>
          </a:solidFill>
          <a:ln w="8890">
            <a:solidFill>
              <a:srgbClr val="1F2937"/>
            </a:solidFill>
          </a:ln>
        </p:spPr>
        <p:txBody>
          <a:bodyPr wrap="square" lIns="2286" tIns="2286" rIns="2286" bIns="2286" rtlCol="0" anchor="ctr">
            <a:normAutofit/>
          </a:bodyPr>
          <a:lstStyle/>
          <a:p>
            <a:pPr marL="0" indent="0">
              <a:buNone/>
            </a:pPr>
            <a:r>
              <a:rPr lang="en-US" sz="1020" dirty="0">
                <a:solidFill>
                  <a:srgbClr val="E5E7EB"/>
                </a:solidFill>
                <a:latin typeface="Consolas" pitchFamily="34" charset="0"/>
                <a:ea typeface="Consolas" pitchFamily="34" charset="-122"/>
                <a:cs typeface="Consolas" pitchFamily="34" charset="-120"/>
              </a:rPr>
              <a:t>given()</a:t>
            </a:r>
            <a:endParaRPr lang="en-US" sz="1020" dirty="0"/>
          </a:p>
          <a:p>
            <a:pPr marL="0" indent="0">
              <a:buNone/>
            </a:pPr>
            <a:r>
              <a:rPr lang="en-US" sz="1020" dirty="0">
                <a:solidFill>
                  <a:srgbClr val="E5E7EB"/>
                </a:solidFill>
                <a:latin typeface="Consolas" pitchFamily="34" charset="0"/>
                <a:ea typeface="Consolas" pitchFamily="34" charset="-122"/>
                <a:cs typeface="Consolas" pitchFamily="34" charset="-120"/>
              </a:rPr>
              <a:t>  .spec(requestSpec)</a:t>
            </a:r>
            <a:endParaRPr lang="en-US" sz="1020" dirty="0"/>
          </a:p>
          <a:p>
            <a:pPr marL="0" indent="0">
              <a:buNone/>
            </a:pPr>
            <a:r>
              <a:rPr lang="en-US" sz="1020" dirty="0">
                <a:solidFill>
                  <a:srgbClr val="E5E7EB"/>
                </a:solidFill>
                <a:latin typeface="Consolas" pitchFamily="34" charset="0"/>
                <a:ea typeface="Consolas" pitchFamily="34" charset="-122"/>
                <a:cs typeface="Consolas" pitchFamily="34" charset="-120"/>
              </a:rPr>
              <a:t>.when()</a:t>
            </a:r>
            <a:endParaRPr lang="en-US" sz="1020" dirty="0"/>
          </a:p>
          <a:p>
            <a:pPr marL="0" indent="0">
              <a:buNone/>
            </a:pPr>
            <a:r>
              <a:rPr lang="en-US" sz="1020" dirty="0">
                <a:solidFill>
                  <a:srgbClr val="E5E7EB"/>
                </a:solidFill>
                <a:latin typeface="Consolas" pitchFamily="34" charset="0"/>
                <a:ea typeface="Consolas" pitchFamily="34" charset="-122"/>
                <a:cs typeface="Consolas" pitchFamily="34" charset="-120"/>
              </a:rPr>
              <a:t>  .get("/posts/{postId}", 1)</a:t>
            </a:r>
            <a:endParaRPr lang="en-US" sz="1020" dirty="0"/>
          </a:p>
          <a:p>
            <a:pPr marL="0" indent="0">
              <a:buNone/>
            </a:pPr>
            <a:r>
              <a:rPr lang="en-US" sz="1020" dirty="0">
                <a:solidFill>
                  <a:srgbClr val="E5E7EB"/>
                </a:solidFill>
                <a:latin typeface="Consolas" pitchFamily="34" charset="0"/>
                <a:ea typeface="Consolas" pitchFamily="34" charset="-122"/>
                <a:cs typeface="Consolas" pitchFamily="34" charset="-120"/>
              </a:rPr>
              <a:t>.then()</a:t>
            </a:r>
            <a:endParaRPr lang="en-US" sz="1020" dirty="0"/>
          </a:p>
          <a:p>
            <a:pPr marL="0" indent="0">
              <a:buNone/>
            </a:pPr>
            <a:r>
              <a:rPr lang="en-US" sz="1020" dirty="0">
                <a:solidFill>
                  <a:srgbClr val="E5E7EB"/>
                </a:solidFill>
                <a:latin typeface="Consolas" pitchFamily="34" charset="0"/>
                <a:ea typeface="Consolas" pitchFamily="34" charset="-122"/>
                <a:cs typeface="Consolas" pitchFamily="34" charset="-120"/>
              </a:rPr>
              <a:t>  .statusCode(200)</a:t>
            </a:r>
            <a:endParaRPr lang="en-US" sz="1020" dirty="0"/>
          </a:p>
          <a:p>
            <a:pPr marL="0" indent="0">
              <a:buNone/>
            </a:pPr>
            <a:r>
              <a:rPr lang="en-US" sz="1020" dirty="0">
                <a:solidFill>
                  <a:srgbClr val="E5E7EB"/>
                </a:solidFill>
                <a:latin typeface="Consolas" pitchFamily="34" charset="0"/>
                <a:ea typeface="Consolas" pitchFamily="34" charset="-122"/>
                <a:cs typeface="Consolas" pitchFamily="34" charset="-120"/>
              </a:rPr>
              <a:t>  .time(lessThan(ApiConfig.MAX_RESPONSE_TIME_MS))</a:t>
            </a:r>
            <a:endParaRPr lang="en-US" sz="1020" dirty="0"/>
          </a:p>
          <a:p>
            <a:pPr marL="0" indent="0">
              <a:buNone/>
            </a:pPr>
            <a:r>
              <a:rPr lang="en-US" sz="1020" dirty="0">
                <a:solidFill>
                  <a:srgbClr val="E5E7EB"/>
                </a:solidFill>
                <a:latin typeface="Consolas" pitchFamily="34" charset="0"/>
                <a:ea typeface="Consolas" pitchFamily="34" charset="-122"/>
                <a:cs typeface="Consolas" pitchFamily="34" charset="-120"/>
              </a:rPr>
              <a:t>  .body("id", equalTo(1))</a:t>
            </a:r>
            <a:endParaRPr lang="en-US" sz="1020" dirty="0"/>
          </a:p>
          <a:p>
            <a:pPr marL="0" indent="0">
              <a:buNone/>
            </a:pPr>
            <a:r>
              <a:rPr lang="en-US" sz="1020" dirty="0">
                <a:solidFill>
                  <a:srgbClr val="E5E7EB"/>
                </a:solidFill>
                <a:latin typeface="Consolas" pitchFamily="34" charset="0"/>
                <a:ea typeface="Consolas" pitchFamily="34" charset="-122"/>
                <a:cs typeface="Consolas" pitchFamily="34" charset="-120"/>
              </a:rPr>
              <a:t>  .body("userId", equalTo(1))</a:t>
            </a:r>
            <a:endParaRPr lang="en-US" sz="1020" dirty="0"/>
          </a:p>
          <a:p>
            <a:pPr marL="0" indent="0">
              <a:buNone/>
            </a:pPr>
            <a:r>
              <a:rPr lang="en-US" sz="1020" dirty="0">
                <a:solidFill>
                  <a:srgbClr val="E5E7EB"/>
                </a:solidFill>
                <a:latin typeface="Consolas" pitchFamily="34" charset="0"/>
                <a:ea typeface="Consolas" pitchFamily="34" charset="-122"/>
                <a:cs typeface="Consolas" pitchFamily="34" charset="-120"/>
              </a:rPr>
              <a:t>  .body("title", notNullValue())</a:t>
            </a:r>
            <a:endParaRPr lang="en-US" sz="1020" dirty="0"/>
          </a:p>
          <a:p>
            <a:pPr marL="0" indent="0">
              <a:buNone/>
            </a:pPr>
            <a:r>
              <a:rPr lang="en-US" sz="1020" dirty="0">
                <a:solidFill>
                  <a:srgbClr val="E5E7EB"/>
                </a:solidFill>
                <a:latin typeface="Consolas" pitchFamily="34" charset="0"/>
                <a:ea typeface="Consolas" pitchFamily="34" charset="-122"/>
                <a:cs typeface="Consolas" pitchFamily="34" charset="-120"/>
              </a:rPr>
              <a:t>  .body("body.length()", greaterThan(20));</a:t>
            </a:r>
            <a:endParaRPr lang="en-US" sz="1020" dirty="0"/>
          </a:p>
        </p:txBody>
      </p:sp>
      <p:sp>
        <p:nvSpPr>
          <p:cNvPr id="6" name="Text 4"/>
          <p:cNvSpPr/>
          <p:nvPr/>
        </p:nvSpPr>
        <p:spPr>
          <a:xfrm>
            <a:off x="6903720" y="1737360"/>
            <a:ext cx="4297680" cy="8686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r>
              <a:rPr lang="en-US" sz="1250" dirty="0">
                <a:solidFill>
                  <a:srgbClr val="475569"/>
                </a:solidFill>
              </a:rPr>
              <a:t>HTTP 200 dönmesi beklenir.</a:t>
            </a:r>
            <a:endParaRPr lang="en-US" sz="1250" dirty="0"/>
          </a:p>
        </p:txBody>
      </p:sp>
      <p:sp>
        <p:nvSpPr>
          <p:cNvPr id="7" name="Text 5"/>
          <p:cNvSpPr/>
          <p:nvPr/>
        </p:nvSpPr>
        <p:spPr>
          <a:xfrm>
            <a:off x="7022592" y="1856232"/>
            <a:ext cx="4059936" cy="210312"/>
          </a:xfrm>
          <a:prstGeom prst="rect">
            <a:avLst/>
          </a:prstGeom>
          <a:noFill/>
          <a:ln/>
        </p:spPr>
        <p:txBody>
          <a:bodyPr wrap="square" lIns="0" tIns="0" rIns="0" bIns="0" rtlCol="0" anchor="ctr">
            <a:normAutofit/>
          </a:bodyPr>
          <a:lstStyle/>
          <a:p>
            <a:pPr marL="0" indent="0">
              <a:buNone/>
            </a:pPr>
            <a:r>
              <a:rPr lang="en-US" sz="1280" b="1" dirty="0">
                <a:solidFill>
                  <a:srgbClr val="16A34A"/>
                </a:solidFill>
              </a:rPr>
              <a:t>Status Code</a:t>
            </a:r>
            <a:endParaRPr lang="en-US" sz="1280" dirty="0"/>
          </a:p>
        </p:txBody>
      </p:sp>
      <p:sp>
        <p:nvSpPr>
          <p:cNvPr id="8" name="Text 6"/>
          <p:cNvSpPr/>
          <p:nvPr/>
        </p:nvSpPr>
        <p:spPr>
          <a:xfrm>
            <a:off x="6903720" y="2852928"/>
            <a:ext cx="4297680" cy="8686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r>
              <a:rPr lang="en-US" sz="1250" dirty="0">
                <a:solidFill>
                  <a:srgbClr val="475569"/>
                </a:solidFill>
              </a:rPr>
              <a:t>id=1, userId=1, title boş değil, body uzunluğu 20’den büyük.</a:t>
            </a:r>
            <a:endParaRPr lang="en-US" sz="1250" dirty="0"/>
          </a:p>
        </p:txBody>
      </p:sp>
      <p:sp>
        <p:nvSpPr>
          <p:cNvPr id="9" name="Text 7"/>
          <p:cNvSpPr/>
          <p:nvPr/>
        </p:nvSpPr>
        <p:spPr>
          <a:xfrm>
            <a:off x="7022592" y="2971800"/>
            <a:ext cx="4059936" cy="210312"/>
          </a:xfrm>
          <a:prstGeom prst="rect">
            <a:avLst/>
          </a:prstGeom>
          <a:noFill/>
          <a:ln/>
        </p:spPr>
        <p:txBody>
          <a:bodyPr wrap="square" lIns="0" tIns="0" rIns="0" bIns="0" rtlCol="0" anchor="ctr">
            <a:normAutofit/>
          </a:bodyPr>
          <a:lstStyle/>
          <a:p>
            <a:pPr marL="0" indent="0">
              <a:buNone/>
            </a:pPr>
            <a:r>
              <a:rPr lang="en-US" sz="1280" b="1" dirty="0">
                <a:solidFill>
                  <a:srgbClr val="2563EB"/>
                </a:solidFill>
              </a:rPr>
              <a:t>Body Kontrolü</a:t>
            </a:r>
            <a:endParaRPr lang="en-US" sz="1280" dirty="0"/>
          </a:p>
        </p:txBody>
      </p:sp>
      <p:sp>
        <p:nvSpPr>
          <p:cNvPr id="10" name="Text 8"/>
          <p:cNvSpPr/>
          <p:nvPr/>
        </p:nvSpPr>
        <p:spPr>
          <a:xfrm>
            <a:off x="6903720" y="3968496"/>
            <a:ext cx="4297680" cy="8686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r>
              <a:rPr lang="en-US" sz="1250" dirty="0" err="1">
                <a:solidFill>
                  <a:srgbClr val="475569"/>
                </a:solidFill>
              </a:rPr>
              <a:t>Cevap</a:t>
            </a:r>
            <a:r>
              <a:rPr lang="en-US" sz="1250" dirty="0">
                <a:solidFill>
                  <a:srgbClr val="475569"/>
                </a:solidFill>
              </a:rPr>
              <a:t> süresi ApiConfig.MAX_RESPONSE_TIME_MS değerinden küçük olmalıdır.</a:t>
            </a:r>
            <a:endParaRPr lang="en-US" sz="1250" dirty="0"/>
          </a:p>
        </p:txBody>
      </p:sp>
      <p:sp>
        <p:nvSpPr>
          <p:cNvPr id="11" name="Text 9"/>
          <p:cNvSpPr/>
          <p:nvPr/>
        </p:nvSpPr>
        <p:spPr>
          <a:xfrm>
            <a:off x="7022592" y="4087368"/>
            <a:ext cx="4059936" cy="210312"/>
          </a:xfrm>
          <a:prstGeom prst="rect">
            <a:avLst/>
          </a:prstGeom>
          <a:noFill/>
          <a:ln/>
        </p:spPr>
        <p:txBody>
          <a:bodyPr wrap="square" lIns="0" tIns="0" rIns="0" bIns="0" rtlCol="0" anchor="ctr">
            <a:normAutofit/>
          </a:bodyPr>
          <a:lstStyle/>
          <a:p>
            <a:pPr marL="0" indent="0">
              <a:buNone/>
            </a:pPr>
            <a:r>
              <a:rPr lang="en-US" sz="1280" b="1" dirty="0">
                <a:solidFill>
                  <a:srgbClr val="D97706"/>
                </a:solidFill>
              </a:rPr>
              <a:t>Response Time</a:t>
            </a:r>
            <a:endParaRPr lang="en-US" sz="1280" dirty="0"/>
          </a:p>
        </p:txBody>
      </p:sp>
      <p:sp>
        <p:nvSpPr>
          <p:cNvPr id="12" name="Text 10"/>
          <p:cNvSpPr/>
          <p:nvPr/>
        </p:nvSpPr>
        <p:spPr>
          <a:xfrm>
            <a:off x="6967728" y="5285232"/>
            <a:ext cx="4160520" cy="457200"/>
          </a:xfrm>
          <a:prstGeom prst="rect">
            <a:avLst/>
          </a:prstGeom>
          <a:noFill/>
          <a:ln/>
        </p:spPr>
        <p:txBody>
          <a:bodyPr wrap="square" lIns="635" tIns="635" rIns="635" bIns="635" rtlCol="0" anchor="t">
            <a:normAutofit/>
          </a:bodyPr>
          <a:lstStyle/>
          <a:p>
            <a:pPr marL="0" indent="0" algn="l">
              <a:buNone/>
            </a:pPr>
            <a:r>
              <a:rPr lang="en-US" sz="1220" dirty="0">
                <a:solidFill>
                  <a:srgbClr val="475569"/>
                </a:solidFill>
              </a:rPr>
              <a:t>Bu test, servis üzerindeki mevcut bir kaydın regresyon sonrası hâlâ aynı temel yapıda döndüğünü kontrol eder.</a:t>
            </a:r>
            <a:endParaRPr lang="en-US" sz="122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21792" y="420624"/>
            <a:ext cx="8412480" cy="384048"/>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POST Senaryosu</a:t>
            </a:r>
            <a:endParaRPr lang="en-US" sz="2500" dirty="0"/>
          </a:p>
        </p:txBody>
      </p:sp>
      <p:sp>
        <p:nvSpPr>
          <p:cNvPr id="3" name="Text 1"/>
          <p:cNvSpPr/>
          <p:nvPr/>
        </p:nvSpPr>
        <p:spPr>
          <a:xfrm>
            <a:off x="640080" y="868680"/>
            <a:ext cx="9326880" cy="237744"/>
          </a:xfrm>
          <a:prstGeom prst="rect">
            <a:avLst/>
          </a:prstGeom>
          <a:noFill/>
          <a:ln/>
        </p:spPr>
        <p:txBody>
          <a:bodyPr wrap="square" lIns="0" tIns="0" rIns="0" bIns="0" rtlCol="0" anchor="ctr"/>
          <a:lstStyle/>
          <a:p>
            <a:pPr marL="0" indent="0">
              <a:buNone/>
            </a:pPr>
            <a:r>
              <a:rPr lang="en-US" sz="1080" dirty="0">
                <a:solidFill>
                  <a:srgbClr val="64748B"/>
                </a:solidFill>
              </a:rPr>
              <a:t>JSON request body gönderilerek oluşturma isteği test edildi</a:t>
            </a:r>
            <a:endParaRPr lang="en-US" sz="1080" dirty="0"/>
          </a:p>
        </p:txBody>
      </p:sp>
      <p:sp>
        <p:nvSpPr>
          <p:cNvPr id="4" name="Text 2"/>
          <p:cNvSpPr/>
          <p:nvPr/>
        </p:nvSpPr>
        <p:spPr>
          <a:xfrm>
            <a:off x="804672" y="1234440"/>
            <a:ext cx="2148840" cy="310896"/>
          </a:xfrm>
          <a:prstGeom prst="rect">
            <a:avLst/>
          </a:prstGeom>
          <a:solidFill>
            <a:srgbClr val="CCFBF1"/>
          </a:solidFill>
          <a:ln>
            <a:solidFill>
              <a:srgbClr val="CCFBF1"/>
            </a:solidFill>
          </a:ln>
        </p:spPr>
        <p:txBody>
          <a:bodyPr wrap="square" lIns="254" tIns="254" rIns="254" bIns="254" rtlCol="0" anchor="ctr"/>
          <a:lstStyle/>
          <a:p>
            <a:pPr marL="0" indent="0" algn="ctr">
              <a:buNone/>
            </a:pPr>
            <a:r>
              <a:rPr lang="en-US" sz="1100" b="1" dirty="0">
                <a:solidFill>
                  <a:srgbClr val="0D9488"/>
                </a:solidFill>
              </a:rPr>
              <a:t>Endpoint: POST /posts</a:t>
            </a:r>
            <a:endParaRPr lang="en-US" sz="1100" dirty="0"/>
          </a:p>
        </p:txBody>
      </p:sp>
      <p:sp>
        <p:nvSpPr>
          <p:cNvPr id="5" name="Text 3"/>
          <p:cNvSpPr/>
          <p:nvPr/>
        </p:nvSpPr>
        <p:spPr>
          <a:xfrm>
            <a:off x="768927" y="1727385"/>
            <a:ext cx="5852160" cy="4434840"/>
          </a:xfrm>
          <a:prstGeom prst="rect">
            <a:avLst/>
          </a:prstGeom>
          <a:solidFill>
            <a:srgbClr val="111827"/>
          </a:solidFill>
          <a:ln w="8890">
            <a:solidFill>
              <a:srgbClr val="1F2937"/>
            </a:solidFill>
          </a:ln>
        </p:spPr>
        <p:txBody>
          <a:bodyPr wrap="square" lIns="2286" tIns="2286" rIns="2286" bIns="2286" rtlCol="0" anchor="ctr">
            <a:normAutofit/>
          </a:bodyPr>
          <a:lstStyle/>
          <a:p>
            <a:pPr marL="0" indent="0">
              <a:buNone/>
            </a:pPr>
            <a:r>
              <a:rPr lang="en-US" sz="950" dirty="0">
                <a:solidFill>
                  <a:srgbClr val="E5E7EB"/>
                </a:solidFill>
                <a:latin typeface="Consolas" pitchFamily="34" charset="0"/>
                <a:ea typeface="Consolas" pitchFamily="34" charset="-122"/>
                <a:cs typeface="Consolas" pitchFamily="34" charset="-120"/>
              </a:rPr>
              <a:t>PostRequest requestBody = new PostRequest(</a:t>
            </a:r>
            <a:endParaRPr lang="en-US" sz="950" dirty="0"/>
          </a:p>
          <a:p>
            <a:pPr marL="0" indent="0">
              <a:buNone/>
            </a:pPr>
            <a:r>
              <a:rPr lang="en-US" sz="950" dirty="0">
                <a:solidFill>
                  <a:srgbClr val="E5E7EB"/>
                </a:solidFill>
                <a:latin typeface="Consolas" pitchFamily="34" charset="0"/>
                <a:ea typeface="Consolas" pitchFamily="34" charset="-122"/>
                <a:cs typeface="Consolas" pitchFamily="34" charset="-120"/>
              </a:rPr>
              <a:t>  "Yazilim test muhendisligi",</a:t>
            </a:r>
            <a:endParaRPr lang="en-US" sz="950" dirty="0"/>
          </a:p>
          <a:p>
            <a:pPr marL="0" indent="0">
              <a:buNone/>
            </a:pPr>
            <a:r>
              <a:rPr lang="en-US" sz="950" dirty="0">
                <a:solidFill>
                  <a:srgbClr val="E5E7EB"/>
                </a:solidFill>
                <a:latin typeface="Consolas" pitchFamily="34" charset="0"/>
                <a:ea typeface="Consolas" pitchFamily="34" charset="-122"/>
                <a:cs typeface="Consolas" pitchFamily="34" charset="-120"/>
              </a:rPr>
              <a:t>  "Rest Assured ile otomatik regresyon testi ornegi",</a:t>
            </a:r>
            <a:endParaRPr lang="en-US" sz="950" dirty="0"/>
          </a:p>
          <a:p>
            <a:pPr marL="0" indent="0">
              <a:buNone/>
            </a:pPr>
            <a:r>
              <a:rPr lang="en-US" sz="950" dirty="0">
                <a:solidFill>
                  <a:srgbClr val="E5E7EB"/>
                </a:solidFill>
                <a:latin typeface="Consolas" pitchFamily="34" charset="0"/>
                <a:ea typeface="Consolas" pitchFamily="34" charset="-122"/>
                <a:cs typeface="Consolas" pitchFamily="34" charset="-120"/>
              </a:rPr>
              <a:t>  7</a:t>
            </a:r>
            <a:endParaRPr lang="en-US" sz="950" dirty="0"/>
          </a:p>
          <a:p>
            <a:pPr marL="0" indent="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marL="0" indent="0">
              <a:buNone/>
            </a:pPr>
            <a:endParaRPr lang="en-US" sz="950" dirty="0"/>
          </a:p>
          <a:p>
            <a:pPr marL="0" indent="0">
              <a:buNone/>
            </a:pPr>
            <a:r>
              <a:rPr lang="en-US" sz="950" dirty="0">
                <a:solidFill>
                  <a:srgbClr val="E5E7EB"/>
                </a:solidFill>
                <a:latin typeface="Consolas" pitchFamily="34" charset="0"/>
                <a:ea typeface="Consolas" pitchFamily="34" charset="-122"/>
                <a:cs typeface="Consolas" pitchFamily="34" charset="-120"/>
              </a:rPr>
              <a:t>given()</a:t>
            </a:r>
            <a:endParaRPr lang="en-US" sz="950" dirty="0"/>
          </a:p>
          <a:p>
            <a:pPr marL="0" indent="0">
              <a:buNone/>
            </a:pPr>
            <a:r>
              <a:rPr lang="en-US" sz="950" dirty="0">
                <a:solidFill>
                  <a:srgbClr val="E5E7EB"/>
                </a:solidFill>
                <a:latin typeface="Consolas" pitchFamily="34" charset="0"/>
                <a:ea typeface="Consolas" pitchFamily="34" charset="-122"/>
                <a:cs typeface="Consolas" pitchFamily="34" charset="-120"/>
              </a:rPr>
              <a:t>  .spec(requestSpec)</a:t>
            </a:r>
            <a:endParaRPr lang="en-US" sz="950" dirty="0"/>
          </a:p>
          <a:p>
            <a:pPr marL="0" indent="0">
              <a:buNone/>
            </a:pPr>
            <a:r>
              <a:rPr lang="en-US" sz="950" dirty="0">
                <a:solidFill>
                  <a:srgbClr val="E5E7EB"/>
                </a:solidFill>
                <a:latin typeface="Consolas" pitchFamily="34" charset="0"/>
                <a:ea typeface="Consolas" pitchFamily="34" charset="-122"/>
                <a:cs typeface="Consolas" pitchFamily="34" charset="-120"/>
              </a:rPr>
              <a:t>  .body(requestBody)</a:t>
            </a:r>
            <a:endParaRPr lang="en-US" sz="950" dirty="0"/>
          </a:p>
          <a:p>
            <a:pPr marL="0" indent="0">
              <a:buNone/>
            </a:pPr>
            <a:r>
              <a:rPr lang="en-US" sz="950" dirty="0">
                <a:solidFill>
                  <a:srgbClr val="E5E7EB"/>
                </a:solidFill>
                <a:latin typeface="Consolas" pitchFamily="34" charset="0"/>
                <a:ea typeface="Consolas" pitchFamily="34" charset="-122"/>
                <a:cs typeface="Consolas" pitchFamily="34" charset="-120"/>
              </a:rPr>
              <a:t>.when()</a:t>
            </a:r>
            <a:endParaRPr lang="en-US" sz="950" dirty="0"/>
          </a:p>
          <a:p>
            <a:pPr marL="0" indent="0">
              <a:buNone/>
            </a:pPr>
            <a:r>
              <a:rPr lang="en-US" sz="950" dirty="0">
                <a:solidFill>
                  <a:srgbClr val="E5E7EB"/>
                </a:solidFill>
                <a:latin typeface="Consolas" pitchFamily="34" charset="0"/>
                <a:ea typeface="Consolas" pitchFamily="34" charset="-122"/>
                <a:cs typeface="Consolas" pitchFamily="34" charset="-120"/>
              </a:rPr>
              <a:t>  .post("/posts")</a:t>
            </a:r>
            <a:endParaRPr lang="en-US" sz="950" dirty="0"/>
          </a:p>
          <a:p>
            <a:pPr marL="0" indent="0">
              <a:buNone/>
            </a:pPr>
            <a:r>
              <a:rPr lang="en-US" sz="950" dirty="0">
                <a:solidFill>
                  <a:srgbClr val="E5E7EB"/>
                </a:solidFill>
                <a:latin typeface="Consolas" pitchFamily="34" charset="0"/>
                <a:ea typeface="Consolas" pitchFamily="34" charset="-122"/>
                <a:cs typeface="Consolas" pitchFamily="34" charset="-120"/>
              </a:rPr>
              <a:t>.then()</a:t>
            </a:r>
            <a:endParaRPr lang="en-US" sz="950" dirty="0"/>
          </a:p>
          <a:p>
            <a:pPr marL="0" indent="0">
              <a:buNone/>
            </a:pPr>
            <a:r>
              <a:rPr lang="en-US" sz="950" dirty="0">
                <a:solidFill>
                  <a:srgbClr val="E5E7EB"/>
                </a:solidFill>
                <a:latin typeface="Consolas" pitchFamily="34" charset="0"/>
                <a:ea typeface="Consolas" pitchFamily="34" charset="-122"/>
                <a:cs typeface="Consolas" pitchFamily="34" charset="-120"/>
              </a:rPr>
              <a:t> .log().body()</a:t>
            </a:r>
          </a:p>
          <a:p>
            <a:pPr marL="0" indent="0">
              <a:buNone/>
            </a:pPr>
            <a:r>
              <a:rPr lang="tr-TR" sz="950" dirty="0">
                <a:solidFill>
                  <a:srgbClr val="E5E7EB"/>
                </a:solidFill>
                <a:latin typeface="Consolas" pitchFamily="34" charset="0"/>
                <a:ea typeface="Consolas" pitchFamily="34" charset="-122"/>
                <a:cs typeface="Consolas" pitchFamily="34" charset="-120"/>
              </a:rPr>
              <a:t> </a:t>
            </a:r>
            <a:r>
              <a:rPr lang="en-US" sz="950" dirty="0">
                <a:solidFill>
                  <a:srgbClr val="E5E7EB"/>
                </a:solidFill>
                <a:latin typeface="Consolas" pitchFamily="34" charset="0"/>
                <a:ea typeface="Consolas" pitchFamily="34" charset="-122"/>
                <a:cs typeface="Consolas" pitchFamily="34" charset="-120"/>
              </a:rPr>
              <a:t>.</a:t>
            </a:r>
            <a:r>
              <a:rPr lang="en-US" sz="950" dirty="0" err="1">
                <a:solidFill>
                  <a:srgbClr val="E5E7EB"/>
                </a:solidFill>
                <a:latin typeface="Consolas" pitchFamily="34" charset="0"/>
                <a:ea typeface="Consolas" pitchFamily="34" charset="-122"/>
                <a:cs typeface="Consolas" pitchFamily="34" charset="-120"/>
              </a:rPr>
              <a:t>statusCode</a:t>
            </a:r>
            <a:r>
              <a:rPr lang="en-US" sz="950" dirty="0">
                <a:solidFill>
                  <a:srgbClr val="E5E7EB"/>
                </a:solidFill>
                <a:latin typeface="Consolas" pitchFamily="34" charset="0"/>
                <a:ea typeface="Consolas" pitchFamily="34" charset="-122"/>
                <a:cs typeface="Consolas" pitchFamily="34" charset="-120"/>
              </a:rPr>
              <a:t>(201)</a:t>
            </a:r>
          </a:p>
          <a:p>
            <a:pPr marL="0" indent="0">
              <a:buNone/>
            </a:pPr>
            <a:r>
              <a:rPr lang="tr-TR" sz="950" dirty="0">
                <a:solidFill>
                  <a:srgbClr val="E5E7EB"/>
                </a:solidFill>
                <a:latin typeface="Consolas" pitchFamily="34" charset="0"/>
                <a:ea typeface="Consolas" pitchFamily="34" charset="-122"/>
                <a:cs typeface="Consolas" pitchFamily="34" charset="-120"/>
              </a:rPr>
              <a:t> </a:t>
            </a:r>
            <a:r>
              <a:rPr lang="en-US" sz="950" dirty="0">
                <a:solidFill>
                  <a:srgbClr val="E5E7EB"/>
                </a:solidFill>
                <a:latin typeface="Consolas" pitchFamily="34" charset="0"/>
                <a:ea typeface="Consolas" pitchFamily="34" charset="-122"/>
                <a:cs typeface="Consolas" pitchFamily="34" charset="-120"/>
              </a:rPr>
              <a:t>.time(</a:t>
            </a:r>
            <a:r>
              <a:rPr lang="en-US" sz="950" dirty="0" err="1">
                <a:solidFill>
                  <a:srgbClr val="E5E7EB"/>
                </a:solidFill>
                <a:latin typeface="Consolas" pitchFamily="34" charset="0"/>
                <a:ea typeface="Consolas" pitchFamily="34" charset="-122"/>
                <a:cs typeface="Consolas" pitchFamily="34" charset="-120"/>
              </a:rPr>
              <a:t>lessThan</a:t>
            </a:r>
            <a:r>
              <a:rPr lang="en-US" sz="950" dirty="0">
                <a:solidFill>
                  <a:srgbClr val="E5E7EB"/>
                </a:solidFill>
                <a:latin typeface="Consolas" pitchFamily="34" charset="0"/>
                <a:ea typeface="Consolas" pitchFamily="34" charset="-122"/>
                <a:cs typeface="Consolas" pitchFamily="34" charset="-120"/>
              </a:rPr>
              <a:t>(</a:t>
            </a:r>
            <a:r>
              <a:rPr lang="en-US" sz="950" dirty="0" err="1">
                <a:solidFill>
                  <a:srgbClr val="E5E7EB"/>
                </a:solidFill>
                <a:latin typeface="Consolas" pitchFamily="34" charset="0"/>
                <a:ea typeface="Consolas" pitchFamily="34" charset="-122"/>
                <a:cs typeface="Consolas" pitchFamily="34" charset="-120"/>
              </a:rPr>
              <a:t>ApiConfig.MAX_RESPONSE_TIME_MS</a:t>
            </a:r>
            <a:r>
              <a:rPr lang="en-US" sz="950" dirty="0">
                <a:solidFill>
                  <a:srgbClr val="E5E7EB"/>
                </a:solidFill>
                <a:latin typeface="Consolas" pitchFamily="34" charset="0"/>
                <a:ea typeface="Consolas" pitchFamily="34" charset="-122"/>
                <a:cs typeface="Consolas" pitchFamily="34" charset="-120"/>
              </a:rPr>
              <a:t>))</a:t>
            </a:r>
          </a:p>
          <a:p>
            <a:pPr marL="0" indent="0">
              <a:buNone/>
            </a:pPr>
            <a:r>
              <a:rPr lang="tr-TR" sz="950" dirty="0">
                <a:solidFill>
                  <a:srgbClr val="E5E7EB"/>
                </a:solidFill>
                <a:latin typeface="Consolas" pitchFamily="34" charset="0"/>
                <a:ea typeface="Consolas" pitchFamily="34" charset="-122"/>
                <a:cs typeface="Consolas" pitchFamily="34" charset="-120"/>
              </a:rPr>
              <a:t> </a:t>
            </a:r>
            <a:r>
              <a:rPr lang="en-US" sz="950" dirty="0">
                <a:solidFill>
                  <a:srgbClr val="E5E7EB"/>
                </a:solidFill>
                <a:latin typeface="Consolas" pitchFamily="34" charset="0"/>
                <a:ea typeface="Consolas" pitchFamily="34" charset="-122"/>
                <a:cs typeface="Consolas" pitchFamily="34" charset="-120"/>
              </a:rPr>
              <a:t>.body("id", </a:t>
            </a:r>
            <a:r>
              <a:rPr lang="en-US" sz="950" dirty="0" err="1">
                <a:solidFill>
                  <a:srgbClr val="E5E7EB"/>
                </a:solidFill>
                <a:latin typeface="Consolas" pitchFamily="34" charset="0"/>
                <a:ea typeface="Consolas" pitchFamily="34" charset="-122"/>
                <a:cs typeface="Consolas" pitchFamily="34" charset="-120"/>
              </a:rPr>
              <a:t>notNullValue</a:t>
            </a:r>
            <a:r>
              <a:rPr lang="en-US" sz="950" dirty="0">
                <a:solidFill>
                  <a:srgbClr val="E5E7EB"/>
                </a:solidFill>
                <a:latin typeface="Consolas" pitchFamily="34" charset="0"/>
                <a:ea typeface="Consolas" pitchFamily="34" charset="-122"/>
                <a:cs typeface="Consolas" pitchFamily="34" charset="-120"/>
              </a:rPr>
              <a:t>())</a:t>
            </a:r>
          </a:p>
          <a:p>
            <a:pPr marL="0" indent="0">
              <a:buNone/>
            </a:pPr>
            <a:r>
              <a:rPr lang="tr-TR" sz="950" dirty="0">
                <a:solidFill>
                  <a:srgbClr val="E5E7EB"/>
                </a:solidFill>
                <a:latin typeface="Consolas" pitchFamily="34" charset="0"/>
                <a:ea typeface="Consolas" pitchFamily="34" charset="-122"/>
                <a:cs typeface="Consolas" pitchFamily="34" charset="-120"/>
              </a:rPr>
              <a:t> </a:t>
            </a:r>
            <a:r>
              <a:rPr lang="en-US" sz="950" dirty="0">
                <a:solidFill>
                  <a:srgbClr val="E5E7EB"/>
                </a:solidFill>
                <a:latin typeface="Consolas" pitchFamily="34" charset="0"/>
                <a:ea typeface="Consolas" pitchFamily="34" charset="-122"/>
                <a:cs typeface="Consolas" pitchFamily="34" charset="-120"/>
              </a:rPr>
              <a:t>.body("title", </a:t>
            </a:r>
            <a:r>
              <a:rPr lang="en-US" sz="950" dirty="0" err="1">
                <a:solidFill>
                  <a:srgbClr val="E5E7EB"/>
                </a:solidFill>
                <a:latin typeface="Consolas" pitchFamily="34" charset="0"/>
                <a:ea typeface="Consolas" pitchFamily="34" charset="-122"/>
                <a:cs typeface="Consolas" pitchFamily="34" charset="-120"/>
              </a:rPr>
              <a:t>equalTo</a:t>
            </a:r>
            <a:r>
              <a:rPr lang="en-US" sz="950" dirty="0">
                <a:solidFill>
                  <a:srgbClr val="E5E7EB"/>
                </a:solidFill>
                <a:latin typeface="Consolas" pitchFamily="34" charset="0"/>
                <a:ea typeface="Consolas" pitchFamily="34" charset="-122"/>
                <a:cs typeface="Consolas" pitchFamily="34" charset="-120"/>
              </a:rPr>
              <a:t>(</a:t>
            </a:r>
            <a:r>
              <a:rPr lang="en-US" sz="950" dirty="0" err="1">
                <a:solidFill>
                  <a:srgbClr val="E5E7EB"/>
                </a:solidFill>
                <a:latin typeface="Consolas" pitchFamily="34" charset="0"/>
                <a:ea typeface="Consolas" pitchFamily="34" charset="-122"/>
                <a:cs typeface="Consolas" pitchFamily="34" charset="-120"/>
              </a:rPr>
              <a:t>requestBody.getTitle</a:t>
            </a:r>
            <a:r>
              <a:rPr lang="en-US" sz="950" dirty="0">
                <a:solidFill>
                  <a:srgbClr val="E5E7EB"/>
                </a:solidFill>
                <a:latin typeface="Consolas" pitchFamily="34" charset="0"/>
                <a:ea typeface="Consolas" pitchFamily="34" charset="-122"/>
                <a:cs typeface="Consolas" pitchFamily="34" charset="-120"/>
              </a:rPr>
              <a:t>()))</a:t>
            </a:r>
          </a:p>
          <a:p>
            <a:pPr marL="0" indent="0">
              <a:buNone/>
            </a:pPr>
            <a:r>
              <a:rPr lang="tr-TR" sz="950" dirty="0">
                <a:solidFill>
                  <a:srgbClr val="E5E7EB"/>
                </a:solidFill>
                <a:latin typeface="Consolas" pitchFamily="34" charset="0"/>
                <a:ea typeface="Consolas" pitchFamily="34" charset="-122"/>
                <a:cs typeface="Consolas" pitchFamily="34" charset="-120"/>
              </a:rPr>
              <a:t> </a:t>
            </a:r>
            <a:r>
              <a:rPr lang="en-US" sz="950" dirty="0">
                <a:solidFill>
                  <a:srgbClr val="E5E7EB"/>
                </a:solidFill>
                <a:latin typeface="Consolas" pitchFamily="34" charset="0"/>
                <a:ea typeface="Consolas" pitchFamily="34" charset="-122"/>
                <a:cs typeface="Consolas" pitchFamily="34" charset="-120"/>
              </a:rPr>
              <a:t>.body("body", </a:t>
            </a:r>
            <a:r>
              <a:rPr lang="en-US" sz="950" dirty="0" err="1">
                <a:solidFill>
                  <a:srgbClr val="E5E7EB"/>
                </a:solidFill>
                <a:latin typeface="Consolas" pitchFamily="34" charset="0"/>
                <a:ea typeface="Consolas" pitchFamily="34" charset="-122"/>
                <a:cs typeface="Consolas" pitchFamily="34" charset="-120"/>
              </a:rPr>
              <a:t>equalTo</a:t>
            </a:r>
            <a:r>
              <a:rPr lang="en-US" sz="950" dirty="0">
                <a:solidFill>
                  <a:srgbClr val="E5E7EB"/>
                </a:solidFill>
                <a:latin typeface="Consolas" pitchFamily="34" charset="0"/>
                <a:ea typeface="Consolas" pitchFamily="34" charset="-122"/>
                <a:cs typeface="Consolas" pitchFamily="34" charset="-120"/>
              </a:rPr>
              <a:t>(</a:t>
            </a:r>
            <a:r>
              <a:rPr lang="en-US" sz="950" dirty="0" err="1">
                <a:solidFill>
                  <a:srgbClr val="E5E7EB"/>
                </a:solidFill>
                <a:latin typeface="Consolas" pitchFamily="34" charset="0"/>
                <a:ea typeface="Consolas" pitchFamily="34" charset="-122"/>
                <a:cs typeface="Consolas" pitchFamily="34" charset="-120"/>
              </a:rPr>
              <a:t>requestBody.getBody</a:t>
            </a:r>
            <a:r>
              <a:rPr lang="en-US" sz="950" dirty="0">
                <a:solidFill>
                  <a:srgbClr val="E5E7EB"/>
                </a:solidFill>
                <a:latin typeface="Consolas" pitchFamily="34" charset="0"/>
                <a:ea typeface="Consolas" pitchFamily="34" charset="-122"/>
                <a:cs typeface="Consolas" pitchFamily="34" charset="-120"/>
              </a:rPr>
              <a:t>()))</a:t>
            </a:r>
          </a:p>
          <a:p>
            <a:pPr marL="0" indent="0">
              <a:buNone/>
            </a:pPr>
            <a:r>
              <a:rPr lang="en-US" sz="950" dirty="0">
                <a:solidFill>
                  <a:srgbClr val="E5E7EB"/>
                </a:solidFill>
                <a:latin typeface="Consolas" pitchFamily="34" charset="0"/>
                <a:ea typeface="Consolas" pitchFamily="34" charset="-122"/>
                <a:cs typeface="Consolas" pitchFamily="34" charset="-120"/>
              </a:rPr>
              <a:t> .body("</a:t>
            </a:r>
            <a:r>
              <a:rPr lang="en-US" sz="950" dirty="0" err="1">
                <a:solidFill>
                  <a:srgbClr val="E5E7EB"/>
                </a:solidFill>
                <a:latin typeface="Consolas" pitchFamily="34" charset="0"/>
                <a:ea typeface="Consolas" pitchFamily="34" charset="-122"/>
                <a:cs typeface="Consolas" pitchFamily="34" charset="-120"/>
              </a:rPr>
              <a:t>userId</a:t>
            </a:r>
            <a:r>
              <a:rPr lang="en-US" sz="950" dirty="0">
                <a:solidFill>
                  <a:srgbClr val="E5E7EB"/>
                </a:solidFill>
                <a:latin typeface="Consolas" pitchFamily="34" charset="0"/>
                <a:ea typeface="Consolas" pitchFamily="34" charset="-122"/>
                <a:cs typeface="Consolas" pitchFamily="34" charset="-120"/>
              </a:rPr>
              <a:t>", </a:t>
            </a:r>
            <a:r>
              <a:rPr lang="en-US" sz="950" dirty="0" err="1">
                <a:solidFill>
                  <a:srgbClr val="E5E7EB"/>
                </a:solidFill>
                <a:latin typeface="Consolas" pitchFamily="34" charset="0"/>
                <a:ea typeface="Consolas" pitchFamily="34" charset="-122"/>
                <a:cs typeface="Consolas" pitchFamily="34" charset="-120"/>
              </a:rPr>
              <a:t>equalTo</a:t>
            </a:r>
            <a:r>
              <a:rPr lang="en-US" sz="950" dirty="0">
                <a:solidFill>
                  <a:srgbClr val="E5E7EB"/>
                </a:solidFill>
                <a:latin typeface="Consolas" pitchFamily="34" charset="0"/>
                <a:ea typeface="Consolas" pitchFamily="34" charset="-122"/>
                <a:cs typeface="Consolas" pitchFamily="34" charset="-120"/>
              </a:rPr>
              <a:t>(</a:t>
            </a:r>
            <a:r>
              <a:rPr lang="en-US" sz="950" dirty="0" err="1">
                <a:solidFill>
                  <a:srgbClr val="E5E7EB"/>
                </a:solidFill>
                <a:latin typeface="Consolas" pitchFamily="34" charset="0"/>
                <a:ea typeface="Consolas" pitchFamily="34" charset="-122"/>
                <a:cs typeface="Consolas" pitchFamily="34" charset="-120"/>
              </a:rPr>
              <a:t>requestBody.getUserId</a:t>
            </a:r>
            <a:r>
              <a:rPr lang="en-US" sz="950" dirty="0">
                <a:solidFill>
                  <a:srgbClr val="E5E7EB"/>
                </a:solidFill>
                <a:latin typeface="Consolas" pitchFamily="34" charset="0"/>
                <a:ea typeface="Consolas" pitchFamily="34" charset="-122"/>
                <a:cs typeface="Consolas" pitchFamily="34" charset="-120"/>
              </a:rPr>
              <a:t>()));</a:t>
            </a:r>
            <a:r>
              <a:rPr lang="tr-TR" sz="950" dirty="0">
                <a:solidFill>
                  <a:srgbClr val="E5E7EB"/>
                </a:solidFill>
                <a:latin typeface="Consolas" pitchFamily="34" charset="0"/>
                <a:ea typeface="Consolas" pitchFamily="34" charset="-122"/>
                <a:cs typeface="Consolas" pitchFamily="34" charset="-120"/>
              </a:rPr>
              <a:t> </a:t>
            </a:r>
            <a:endParaRPr lang="en-US" sz="950" dirty="0"/>
          </a:p>
        </p:txBody>
      </p:sp>
      <p:sp>
        <p:nvSpPr>
          <p:cNvPr id="6" name="Text 4"/>
          <p:cNvSpPr/>
          <p:nvPr/>
        </p:nvSpPr>
        <p:spPr>
          <a:xfrm>
            <a:off x="7040880" y="1719072"/>
            <a:ext cx="4187952" cy="8686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endParaRPr lang="tr-TR" sz="1250" dirty="0">
              <a:solidFill>
                <a:srgbClr val="475569"/>
              </a:solidFill>
            </a:endParaRPr>
          </a:p>
          <a:p>
            <a:pPr marL="0" indent="0" algn="ctr">
              <a:buNone/>
            </a:pPr>
            <a:r>
              <a:rPr lang="en-US" sz="1250" dirty="0">
                <a:solidFill>
                  <a:srgbClr val="475569"/>
                </a:solidFill>
              </a:rPr>
              <a:t>title, body ve userId alanlarını içeren PostRequest nesnesi JSON olarak gönderildi.</a:t>
            </a:r>
            <a:endParaRPr lang="en-US" sz="1250" dirty="0"/>
          </a:p>
        </p:txBody>
      </p:sp>
      <p:sp>
        <p:nvSpPr>
          <p:cNvPr id="7" name="Text 5"/>
          <p:cNvSpPr/>
          <p:nvPr/>
        </p:nvSpPr>
        <p:spPr>
          <a:xfrm>
            <a:off x="7159752" y="1837944"/>
            <a:ext cx="3950208" cy="210312"/>
          </a:xfrm>
          <a:prstGeom prst="rect">
            <a:avLst/>
          </a:prstGeom>
          <a:noFill/>
          <a:ln/>
        </p:spPr>
        <p:txBody>
          <a:bodyPr wrap="square" lIns="0" tIns="0" rIns="0" bIns="0" rtlCol="0" anchor="ctr">
            <a:normAutofit/>
          </a:bodyPr>
          <a:lstStyle/>
          <a:p>
            <a:pPr marL="0" indent="0">
              <a:buNone/>
            </a:pPr>
            <a:r>
              <a:rPr lang="en-US" sz="1280" b="1" dirty="0">
                <a:solidFill>
                  <a:srgbClr val="0D9488"/>
                </a:solidFill>
              </a:rPr>
              <a:t>Request Body</a:t>
            </a:r>
            <a:endParaRPr lang="en-US" sz="1280" dirty="0"/>
          </a:p>
        </p:txBody>
      </p:sp>
      <p:sp>
        <p:nvSpPr>
          <p:cNvPr id="8" name="Text 6"/>
          <p:cNvSpPr/>
          <p:nvPr/>
        </p:nvSpPr>
        <p:spPr>
          <a:xfrm>
            <a:off x="7040880" y="2834640"/>
            <a:ext cx="4187952" cy="8686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r>
              <a:rPr lang="en-US" sz="1250" dirty="0" err="1">
                <a:solidFill>
                  <a:srgbClr val="475569"/>
                </a:solidFill>
              </a:rPr>
              <a:t>Başarılı</a:t>
            </a:r>
            <a:r>
              <a:rPr lang="en-US" sz="1250" dirty="0">
                <a:solidFill>
                  <a:srgbClr val="475569"/>
                </a:solidFill>
              </a:rPr>
              <a:t> oluşturma cevabı için HTTP 201 beklenir.</a:t>
            </a:r>
            <a:endParaRPr lang="en-US" sz="1250" dirty="0"/>
          </a:p>
        </p:txBody>
      </p:sp>
      <p:sp>
        <p:nvSpPr>
          <p:cNvPr id="9" name="Text 7"/>
          <p:cNvSpPr/>
          <p:nvPr/>
        </p:nvSpPr>
        <p:spPr>
          <a:xfrm>
            <a:off x="7159752" y="2953512"/>
            <a:ext cx="3950208" cy="210312"/>
          </a:xfrm>
          <a:prstGeom prst="rect">
            <a:avLst/>
          </a:prstGeom>
          <a:noFill/>
          <a:ln/>
        </p:spPr>
        <p:txBody>
          <a:bodyPr wrap="square" lIns="0" tIns="0" rIns="0" bIns="0" rtlCol="0" anchor="ctr">
            <a:normAutofit/>
          </a:bodyPr>
          <a:lstStyle/>
          <a:p>
            <a:pPr marL="0" indent="0">
              <a:buNone/>
            </a:pPr>
            <a:r>
              <a:rPr lang="en-US" sz="1280" b="1" dirty="0">
                <a:solidFill>
                  <a:srgbClr val="16A34A"/>
                </a:solidFill>
              </a:rPr>
              <a:t>Status Code</a:t>
            </a:r>
            <a:endParaRPr lang="en-US" sz="1280" dirty="0"/>
          </a:p>
        </p:txBody>
      </p:sp>
      <p:sp>
        <p:nvSpPr>
          <p:cNvPr id="10" name="Text 8"/>
          <p:cNvSpPr/>
          <p:nvPr/>
        </p:nvSpPr>
        <p:spPr>
          <a:xfrm>
            <a:off x="7040880" y="3950208"/>
            <a:ext cx="4187952" cy="8686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r>
              <a:rPr lang="en-US" sz="1250" dirty="0" err="1">
                <a:solidFill>
                  <a:srgbClr val="475569"/>
                </a:solidFill>
              </a:rPr>
              <a:t>Dönen</a:t>
            </a:r>
            <a:r>
              <a:rPr lang="en-US" sz="1250" dirty="0">
                <a:solidFill>
                  <a:srgbClr val="475569"/>
                </a:solidFill>
              </a:rPr>
              <a:t> title, body ve userId değerleri request body ile karşılaştırıldı.</a:t>
            </a:r>
            <a:endParaRPr lang="en-US" sz="1250" dirty="0"/>
          </a:p>
        </p:txBody>
      </p:sp>
      <p:sp>
        <p:nvSpPr>
          <p:cNvPr id="11" name="Text 9"/>
          <p:cNvSpPr/>
          <p:nvPr/>
        </p:nvSpPr>
        <p:spPr>
          <a:xfrm>
            <a:off x="7159752" y="4069080"/>
            <a:ext cx="3950208" cy="210312"/>
          </a:xfrm>
          <a:prstGeom prst="rect">
            <a:avLst/>
          </a:prstGeom>
          <a:noFill/>
          <a:ln/>
        </p:spPr>
        <p:txBody>
          <a:bodyPr wrap="square" lIns="0" tIns="0" rIns="0" bIns="0" rtlCol="0" anchor="ctr">
            <a:normAutofit/>
          </a:bodyPr>
          <a:lstStyle/>
          <a:p>
            <a:pPr marL="0" indent="0">
              <a:buNone/>
            </a:pPr>
            <a:r>
              <a:rPr lang="en-US" sz="1280" b="1" dirty="0">
                <a:solidFill>
                  <a:srgbClr val="2563EB"/>
                </a:solidFill>
              </a:rPr>
              <a:t>Response Body</a:t>
            </a:r>
            <a:endParaRPr lang="en-US" sz="1280" dirty="0"/>
          </a:p>
        </p:txBody>
      </p:sp>
      <p:sp>
        <p:nvSpPr>
          <p:cNvPr id="12" name="Text 10"/>
          <p:cNvSpPr/>
          <p:nvPr/>
        </p:nvSpPr>
        <p:spPr>
          <a:xfrm>
            <a:off x="7040880" y="5065776"/>
            <a:ext cx="4187952" cy="86868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r>
              <a:rPr lang="en-US" sz="1250" dirty="0" err="1">
                <a:solidFill>
                  <a:srgbClr val="475569"/>
                </a:solidFill>
              </a:rPr>
              <a:t>Aynı</a:t>
            </a:r>
            <a:r>
              <a:rPr lang="en-US" sz="1250" dirty="0">
                <a:solidFill>
                  <a:srgbClr val="475569"/>
                </a:solidFill>
              </a:rPr>
              <a:t> süre limiti bu senaryo için de kontrol edildi.</a:t>
            </a:r>
            <a:endParaRPr lang="en-US" sz="1250" dirty="0"/>
          </a:p>
        </p:txBody>
      </p:sp>
      <p:sp>
        <p:nvSpPr>
          <p:cNvPr id="13" name="Text 11"/>
          <p:cNvSpPr/>
          <p:nvPr/>
        </p:nvSpPr>
        <p:spPr>
          <a:xfrm>
            <a:off x="7159752" y="5184648"/>
            <a:ext cx="3950208" cy="210312"/>
          </a:xfrm>
          <a:prstGeom prst="rect">
            <a:avLst/>
          </a:prstGeom>
          <a:noFill/>
          <a:ln/>
        </p:spPr>
        <p:txBody>
          <a:bodyPr wrap="square" lIns="0" tIns="0" rIns="0" bIns="0" rtlCol="0" anchor="ctr">
            <a:normAutofit/>
          </a:bodyPr>
          <a:lstStyle/>
          <a:p>
            <a:pPr marL="0" indent="0">
              <a:buNone/>
            </a:pPr>
            <a:r>
              <a:rPr lang="en-US" sz="1280" b="1" dirty="0">
                <a:solidFill>
                  <a:srgbClr val="D97706"/>
                </a:solidFill>
              </a:rPr>
              <a:t>Response Time</a:t>
            </a:r>
            <a:endParaRPr lang="en-US" sz="128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21792" y="420624"/>
            <a:ext cx="8412480" cy="384048"/>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Testin Çalıştırılması ve Sonuç</a:t>
            </a:r>
            <a:endParaRPr lang="en-US" sz="2500" dirty="0"/>
          </a:p>
        </p:txBody>
      </p:sp>
      <p:sp>
        <p:nvSpPr>
          <p:cNvPr id="3" name="Text 1"/>
          <p:cNvSpPr/>
          <p:nvPr/>
        </p:nvSpPr>
        <p:spPr>
          <a:xfrm>
            <a:off x="640080" y="868680"/>
            <a:ext cx="9326880" cy="237744"/>
          </a:xfrm>
          <a:prstGeom prst="rect">
            <a:avLst/>
          </a:prstGeom>
          <a:noFill/>
          <a:ln/>
        </p:spPr>
        <p:txBody>
          <a:bodyPr wrap="square" lIns="0" tIns="0" rIns="0" bIns="0" rtlCol="0" anchor="ctr"/>
          <a:lstStyle/>
          <a:p>
            <a:pPr marL="0" indent="0">
              <a:buNone/>
            </a:pPr>
            <a:r>
              <a:rPr lang="en-US" sz="1080" dirty="0">
                <a:solidFill>
                  <a:srgbClr val="64748B"/>
                </a:solidFill>
              </a:rPr>
              <a:t>Maven üzerinden otomatik test çalıştırma</a:t>
            </a:r>
            <a:endParaRPr lang="en-US" sz="1080" dirty="0"/>
          </a:p>
        </p:txBody>
      </p:sp>
      <p:sp>
        <p:nvSpPr>
          <p:cNvPr id="4" name="Text 2"/>
          <p:cNvSpPr/>
          <p:nvPr/>
        </p:nvSpPr>
        <p:spPr>
          <a:xfrm>
            <a:off x="777240" y="1417320"/>
            <a:ext cx="5989320" cy="2971800"/>
          </a:xfrm>
          <a:prstGeom prst="rect">
            <a:avLst/>
          </a:prstGeom>
          <a:solidFill>
            <a:srgbClr val="111827"/>
          </a:solidFill>
          <a:ln w="8890">
            <a:solidFill>
              <a:srgbClr val="1F2937"/>
            </a:solidFill>
          </a:ln>
        </p:spPr>
        <p:txBody>
          <a:bodyPr wrap="square" lIns="2286" tIns="2286" rIns="2286" bIns="2286" rtlCol="0" anchor="ctr">
            <a:normAutofit/>
          </a:bodyPr>
          <a:lstStyle/>
          <a:p>
            <a:pPr marL="0" indent="0">
              <a:buNone/>
            </a:pPr>
            <a:r>
              <a:rPr lang="en-US" sz="1320" dirty="0">
                <a:solidFill>
                  <a:srgbClr val="E5E7EB"/>
                </a:solidFill>
                <a:latin typeface="Consolas" pitchFamily="34" charset="0"/>
                <a:ea typeface="Consolas" pitchFamily="34" charset="-122"/>
                <a:cs typeface="Consolas" pitchFamily="34" charset="-120"/>
              </a:rPr>
              <a:t>$ mvn test</a:t>
            </a:r>
            <a:endParaRPr lang="en-US" sz="1320" dirty="0"/>
          </a:p>
          <a:p>
            <a:pPr marL="0" indent="0">
              <a:buNone/>
            </a:pPr>
            <a:endParaRPr lang="en-US" sz="1320" dirty="0"/>
          </a:p>
          <a:p>
            <a:pPr marL="0" indent="0">
              <a:buNone/>
            </a:pPr>
            <a:r>
              <a:rPr lang="en-US" sz="1320" dirty="0">
                <a:solidFill>
                  <a:srgbClr val="E5E7EB"/>
                </a:solidFill>
                <a:latin typeface="Consolas" pitchFamily="34" charset="0"/>
                <a:ea typeface="Consolas" pitchFamily="34" charset="-122"/>
                <a:cs typeface="Consolas" pitchFamily="34" charset="-120"/>
              </a:rPr>
              <a:t>Test set: com.example.api.test.JsonPlaceholderRegressionTest</a:t>
            </a:r>
            <a:endParaRPr lang="en-US" sz="1320" dirty="0"/>
          </a:p>
          <a:p>
            <a:pPr marL="0" indent="0">
              <a:buNone/>
            </a:pPr>
            <a:r>
              <a:rPr lang="en-US" sz="1320" dirty="0">
                <a:solidFill>
                  <a:srgbClr val="E5E7EB"/>
                </a:solidFill>
                <a:latin typeface="Consolas" pitchFamily="34" charset="0"/>
                <a:ea typeface="Consolas" pitchFamily="34" charset="-122"/>
                <a:cs typeface="Consolas" pitchFamily="34" charset="-120"/>
              </a:rPr>
              <a:t>Tests run: 2, Failures: 0, Errors: 0, Skipped: 0</a:t>
            </a:r>
            <a:endParaRPr lang="en-US" sz="1320" dirty="0"/>
          </a:p>
          <a:p>
            <a:pPr marL="0" indent="0">
              <a:buNone/>
            </a:pPr>
            <a:r>
              <a:rPr lang="en-US" sz="1320" dirty="0">
                <a:solidFill>
                  <a:srgbClr val="E5E7EB"/>
                </a:solidFill>
                <a:latin typeface="Consolas" pitchFamily="34" charset="0"/>
                <a:ea typeface="Consolas" pitchFamily="34" charset="-122"/>
                <a:cs typeface="Consolas" pitchFamily="34" charset="-120"/>
              </a:rPr>
              <a:t>Time elapsed: 6.074 s</a:t>
            </a:r>
            <a:endParaRPr lang="en-US" sz="1320" dirty="0"/>
          </a:p>
          <a:p>
            <a:pPr marL="0" indent="0">
              <a:buNone/>
            </a:pPr>
            <a:endParaRPr lang="en-US" sz="1320" dirty="0"/>
          </a:p>
          <a:p>
            <a:pPr marL="0" indent="0">
              <a:buNone/>
            </a:pPr>
            <a:r>
              <a:rPr lang="en-US" sz="1320" dirty="0">
                <a:solidFill>
                  <a:srgbClr val="E5E7EB"/>
                </a:solidFill>
                <a:latin typeface="Consolas" pitchFamily="34" charset="0"/>
                <a:ea typeface="Consolas" pitchFamily="34" charset="-122"/>
                <a:cs typeface="Consolas" pitchFamily="34" charset="-120"/>
              </a:rPr>
              <a:t>BUILD SUCCESS</a:t>
            </a:r>
            <a:endParaRPr lang="en-US" sz="1320" dirty="0"/>
          </a:p>
        </p:txBody>
      </p:sp>
      <p:sp>
        <p:nvSpPr>
          <p:cNvPr id="5" name="Text 3"/>
          <p:cNvSpPr/>
          <p:nvPr/>
        </p:nvSpPr>
        <p:spPr>
          <a:xfrm>
            <a:off x="7315200" y="1481328"/>
            <a:ext cx="1115568" cy="10058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en-US" sz="1250" dirty="0"/>
          </a:p>
          <a:p>
            <a:pPr marL="0" indent="0" algn="ctr">
              <a:buNone/>
            </a:pPr>
            <a:r>
              <a:rPr lang="en-US" sz="1250" dirty="0">
                <a:solidFill>
                  <a:srgbClr val="475569"/>
                </a:solidFill>
              </a:rPr>
              <a:t>Toplam test</a:t>
            </a:r>
            <a:endParaRPr lang="en-US" sz="1250" dirty="0"/>
          </a:p>
        </p:txBody>
      </p:sp>
      <p:sp>
        <p:nvSpPr>
          <p:cNvPr id="6" name="Text 4"/>
          <p:cNvSpPr/>
          <p:nvPr/>
        </p:nvSpPr>
        <p:spPr>
          <a:xfrm>
            <a:off x="7434072" y="1600200"/>
            <a:ext cx="877824" cy="210312"/>
          </a:xfrm>
          <a:prstGeom prst="rect">
            <a:avLst/>
          </a:prstGeom>
          <a:noFill/>
          <a:ln/>
        </p:spPr>
        <p:txBody>
          <a:bodyPr wrap="square" lIns="0" tIns="0" rIns="0" bIns="0" rtlCol="0" anchor="ctr">
            <a:normAutofit/>
          </a:bodyPr>
          <a:lstStyle/>
          <a:p>
            <a:pPr marL="0" indent="0">
              <a:buNone/>
            </a:pPr>
            <a:r>
              <a:rPr lang="en-US" sz="1280" b="1" dirty="0">
                <a:solidFill>
                  <a:srgbClr val="2563EB"/>
                </a:solidFill>
              </a:rPr>
              <a:t>2</a:t>
            </a:r>
            <a:endParaRPr lang="en-US" sz="1280" dirty="0"/>
          </a:p>
        </p:txBody>
      </p:sp>
      <p:sp>
        <p:nvSpPr>
          <p:cNvPr id="7" name="Text 5"/>
          <p:cNvSpPr/>
          <p:nvPr/>
        </p:nvSpPr>
        <p:spPr>
          <a:xfrm>
            <a:off x="8796528" y="1481328"/>
            <a:ext cx="1115568" cy="10058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en-US" sz="1250" dirty="0"/>
          </a:p>
          <a:p>
            <a:pPr marL="0" indent="0" algn="ctr">
              <a:buNone/>
            </a:pPr>
            <a:r>
              <a:rPr lang="en-US" sz="1250" dirty="0">
                <a:solidFill>
                  <a:srgbClr val="475569"/>
                </a:solidFill>
              </a:rPr>
              <a:t>Failure</a:t>
            </a:r>
            <a:endParaRPr lang="en-US" sz="1250" dirty="0"/>
          </a:p>
        </p:txBody>
      </p:sp>
      <p:sp>
        <p:nvSpPr>
          <p:cNvPr id="8" name="Text 6"/>
          <p:cNvSpPr/>
          <p:nvPr/>
        </p:nvSpPr>
        <p:spPr>
          <a:xfrm>
            <a:off x="8915400" y="1600200"/>
            <a:ext cx="877824" cy="210312"/>
          </a:xfrm>
          <a:prstGeom prst="rect">
            <a:avLst/>
          </a:prstGeom>
          <a:noFill/>
          <a:ln/>
        </p:spPr>
        <p:txBody>
          <a:bodyPr wrap="square" lIns="0" tIns="0" rIns="0" bIns="0" rtlCol="0" anchor="ctr">
            <a:normAutofit/>
          </a:bodyPr>
          <a:lstStyle/>
          <a:p>
            <a:pPr marL="0" indent="0">
              <a:buNone/>
            </a:pPr>
            <a:r>
              <a:rPr lang="en-US" sz="1280" b="1" dirty="0">
                <a:solidFill>
                  <a:srgbClr val="16A34A"/>
                </a:solidFill>
              </a:rPr>
              <a:t>0</a:t>
            </a:r>
            <a:endParaRPr lang="en-US" sz="1280" dirty="0"/>
          </a:p>
        </p:txBody>
      </p:sp>
      <p:sp>
        <p:nvSpPr>
          <p:cNvPr id="9" name="Text 7"/>
          <p:cNvSpPr/>
          <p:nvPr/>
        </p:nvSpPr>
        <p:spPr>
          <a:xfrm>
            <a:off x="10277856" y="1481328"/>
            <a:ext cx="1115568" cy="10058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en-US" sz="1250" dirty="0"/>
          </a:p>
          <a:p>
            <a:pPr marL="0" indent="0" algn="ctr">
              <a:buNone/>
            </a:pPr>
            <a:r>
              <a:rPr lang="en-US" sz="1250" dirty="0">
                <a:solidFill>
                  <a:srgbClr val="475569"/>
                </a:solidFill>
              </a:rPr>
              <a:t>Error</a:t>
            </a:r>
            <a:endParaRPr lang="en-US" sz="1250" dirty="0"/>
          </a:p>
        </p:txBody>
      </p:sp>
      <p:sp>
        <p:nvSpPr>
          <p:cNvPr id="10" name="Text 8"/>
          <p:cNvSpPr/>
          <p:nvPr/>
        </p:nvSpPr>
        <p:spPr>
          <a:xfrm>
            <a:off x="10396728" y="1600200"/>
            <a:ext cx="877824" cy="210312"/>
          </a:xfrm>
          <a:prstGeom prst="rect">
            <a:avLst/>
          </a:prstGeom>
          <a:noFill/>
          <a:ln/>
        </p:spPr>
        <p:txBody>
          <a:bodyPr wrap="square" lIns="0" tIns="0" rIns="0" bIns="0" rtlCol="0" anchor="ctr">
            <a:normAutofit/>
          </a:bodyPr>
          <a:lstStyle/>
          <a:p>
            <a:pPr marL="0" indent="0">
              <a:buNone/>
            </a:pPr>
            <a:r>
              <a:rPr lang="en-US" sz="1280" b="1" dirty="0">
                <a:solidFill>
                  <a:srgbClr val="16A34A"/>
                </a:solidFill>
              </a:rPr>
              <a:t>0</a:t>
            </a:r>
            <a:endParaRPr lang="en-US" sz="1280" dirty="0"/>
          </a:p>
        </p:txBody>
      </p:sp>
      <p:sp>
        <p:nvSpPr>
          <p:cNvPr id="11" name="Text 9"/>
          <p:cNvSpPr/>
          <p:nvPr/>
        </p:nvSpPr>
        <p:spPr>
          <a:xfrm>
            <a:off x="7315200" y="2907792"/>
            <a:ext cx="4069080" cy="114300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endParaRPr lang="tr-TR" sz="1250" dirty="0">
              <a:solidFill>
                <a:srgbClr val="475569"/>
              </a:solidFill>
            </a:endParaRPr>
          </a:p>
          <a:p>
            <a:pPr marL="0" indent="0" algn="ctr">
              <a:buNone/>
            </a:pPr>
            <a:r>
              <a:rPr lang="en-US" sz="1250" dirty="0">
                <a:solidFill>
                  <a:srgbClr val="475569"/>
                </a:solidFill>
              </a:rPr>
              <a:t>Maven Surefire, test çalıştırma sonucunda target/surefire-reports altında XML ve TXT raporları üretir.</a:t>
            </a:r>
            <a:endParaRPr lang="en-US" sz="1250" dirty="0"/>
          </a:p>
        </p:txBody>
      </p:sp>
      <p:sp>
        <p:nvSpPr>
          <p:cNvPr id="12" name="Text 10"/>
          <p:cNvSpPr/>
          <p:nvPr/>
        </p:nvSpPr>
        <p:spPr>
          <a:xfrm>
            <a:off x="7434072" y="3026664"/>
            <a:ext cx="3831336" cy="210312"/>
          </a:xfrm>
          <a:prstGeom prst="rect">
            <a:avLst/>
          </a:prstGeom>
          <a:noFill/>
          <a:ln/>
        </p:spPr>
        <p:txBody>
          <a:bodyPr wrap="square" lIns="0" tIns="0" rIns="0" bIns="0" rtlCol="0" anchor="ctr">
            <a:normAutofit/>
          </a:bodyPr>
          <a:lstStyle/>
          <a:p>
            <a:pPr marL="0" indent="0">
              <a:buNone/>
            </a:pPr>
            <a:r>
              <a:rPr lang="en-US" sz="1280" b="1" dirty="0">
                <a:solidFill>
                  <a:srgbClr val="7C3AED"/>
                </a:solidFill>
              </a:rPr>
              <a:t>Surefire Raporu</a:t>
            </a:r>
            <a:endParaRPr lang="en-US" sz="128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21792" y="420624"/>
            <a:ext cx="8412480" cy="384048"/>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AI Destekli Test Mühendisliği</a:t>
            </a:r>
            <a:endParaRPr lang="en-US" sz="2500" dirty="0"/>
          </a:p>
        </p:txBody>
      </p:sp>
      <p:sp>
        <p:nvSpPr>
          <p:cNvPr id="3" name="Text 1"/>
          <p:cNvSpPr/>
          <p:nvPr/>
        </p:nvSpPr>
        <p:spPr>
          <a:xfrm>
            <a:off x="640080" y="868680"/>
            <a:ext cx="9326880" cy="237744"/>
          </a:xfrm>
          <a:prstGeom prst="rect">
            <a:avLst/>
          </a:prstGeom>
          <a:noFill/>
          <a:ln/>
        </p:spPr>
        <p:txBody>
          <a:bodyPr wrap="square" lIns="0" tIns="0" rIns="0" bIns="0" rtlCol="0" anchor="ctr"/>
          <a:lstStyle/>
          <a:p>
            <a:pPr marL="0" indent="0">
              <a:buNone/>
            </a:pPr>
            <a:r>
              <a:rPr lang="en-US" sz="1080" dirty="0">
                <a:solidFill>
                  <a:srgbClr val="64748B"/>
                </a:solidFill>
              </a:rPr>
              <a:t>Yapay zeka test mühendisinin yerine geçmez; hızlandırıcı araç olarak kullanılır</a:t>
            </a:r>
            <a:endParaRPr lang="en-US" sz="1080" dirty="0"/>
          </a:p>
        </p:txBody>
      </p:sp>
      <p:sp>
        <p:nvSpPr>
          <p:cNvPr id="4" name="Text 2"/>
          <p:cNvSpPr/>
          <p:nvPr/>
        </p:nvSpPr>
        <p:spPr>
          <a:xfrm>
            <a:off x="731520" y="1280160"/>
            <a:ext cx="3337560" cy="12344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err="1">
                <a:solidFill>
                  <a:srgbClr val="475569"/>
                </a:solidFill>
              </a:rPr>
              <a:t>Gereksinimlerden</a:t>
            </a:r>
            <a:r>
              <a:rPr lang="en-US" sz="1250" dirty="0">
                <a:solidFill>
                  <a:srgbClr val="475569"/>
                </a:solidFill>
              </a:rPr>
              <a:t> pozitif, negatif ve edge-case test fikirleri çıkarılabilir.</a:t>
            </a:r>
            <a:endParaRPr lang="en-US" sz="1250" dirty="0"/>
          </a:p>
        </p:txBody>
      </p:sp>
      <p:sp>
        <p:nvSpPr>
          <p:cNvPr id="5" name="Text 3"/>
          <p:cNvSpPr/>
          <p:nvPr/>
        </p:nvSpPr>
        <p:spPr>
          <a:xfrm>
            <a:off x="850392" y="1399032"/>
            <a:ext cx="3099816" cy="210312"/>
          </a:xfrm>
          <a:prstGeom prst="rect">
            <a:avLst/>
          </a:prstGeom>
          <a:noFill/>
          <a:ln/>
        </p:spPr>
        <p:txBody>
          <a:bodyPr wrap="square" lIns="0" tIns="0" rIns="0" bIns="0" rtlCol="0" anchor="ctr">
            <a:normAutofit/>
          </a:bodyPr>
          <a:lstStyle/>
          <a:p>
            <a:pPr marL="0" indent="0">
              <a:buNone/>
            </a:pPr>
            <a:r>
              <a:rPr lang="en-US" sz="1280" b="1" dirty="0">
                <a:solidFill>
                  <a:srgbClr val="2563EB"/>
                </a:solidFill>
              </a:rPr>
              <a:t>Test Senaryosu Üretimi</a:t>
            </a:r>
            <a:endParaRPr lang="en-US" sz="1280" dirty="0"/>
          </a:p>
        </p:txBody>
      </p:sp>
      <p:sp>
        <p:nvSpPr>
          <p:cNvPr id="6" name="Text 4"/>
          <p:cNvSpPr/>
          <p:nvPr/>
        </p:nvSpPr>
        <p:spPr>
          <a:xfrm>
            <a:off x="4343400" y="1280160"/>
            <a:ext cx="3337560" cy="12344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err="1">
                <a:solidFill>
                  <a:srgbClr val="475569"/>
                </a:solidFill>
              </a:rPr>
              <a:t>Farklı</a:t>
            </a:r>
            <a:r>
              <a:rPr lang="en-US" sz="1250" dirty="0">
                <a:solidFill>
                  <a:srgbClr val="475569"/>
                </a:solidFill>
              </a:rPr>
              <a:t> input kombinasyonları, sınır değerleri ve örnek JSON body’ler hazırlanabilir.</a:t>
            </a:r>
            <a:endParaRPr lang="en-US" sz="1250" dirty="0"/>
          </a:p>
        </p:txBody>
      </p:sp>
      <p:sp>
        <p:nvSpPr>
          <p:cNvPr id="7" name="Text 5"/>
          <p:cNvSpPr/>
          <p:nvPr/>
        </p:nvSpPr>
        <p:spPr>
          <a:xfrm>
            <a:off x="4462272" y="1399032"/>
            <a:ext cx="3099816" cy="210312"/>
          </a:xfrm>
          <a:prstGeom prst="rect">
            <a:avLst/>
          </a:prstGeom>
          <a:noFill/>
          <a:ln/>
        </p:spPr>
        <p:txBody>
          <a:bodyPr wrap="square" lIns="0" tIns="0" rIns="0" bIns="0" rtlCol="0" anchor="ctr">
            <a:normAutofit/>
          </a:bodyPr>
          <a:lstStyle/>
          <a:p>
            <a:pPr marL="0" indent="0">
              <a:buNone/>
            </a:pPr>
            <a:r>
              <a:rPr lang="en-US" sz="1280" b="1" dirty="0">
                <a:solidFill>
                  <a:srgbClr val="0D9488"/>
                </a:solidFill>
              </a:rPr>
              <a:t>Test Verisi Oluşturma</a:t>
            </a:r>
            <a:endParaRPr lang="en-US" sz="1280" dirty="0"/>
          </a:p>
        </p:txBody>
      </p:sp>
      <p:sp>
        <p:nvSpPr>
          <p:cNvPr id="8" name="Text 6"/>
          <p:cNvSpPr/>
          <p:nvPr/>
        </p:nvSpPr>
        <p:spPr>
          <a:xfrm>
            <a:off x="7955280" y="1280160"/>
            <a:ext cx="3337560" cy="12344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Failed test çıktıları özetlenebilir, olası kök nedenler hızlıca incelenebilir.</a:t>
            </a:r>
            <a:endParaRPr lang="en-US" sz="1250" dirty="0"/>
          </a:p>
        </p:txBody>
      </p:sp>
      <p:sp>
        <p:nvSpPr>
          <p:cNvPr id="9" name="Text 7"/>
          <p:cNvSpPr/>
          <p:nvPr/>
        </p:nvSpPr>
        <p:spPr>
          <a:xfrm>
            <a:off x="8074152" y="1399032"/>
            <a:ext cx="3099816" cy="210312"/>
          </a:xfrm>
          <a:prstGeom prst="rect">
            <a:avLst/>
          </a:prstGeom>
          <a:noFill/>
          <a:ln/>
        </p:spPr>
        <p:txBody>
          <a:bodyPr wrap="square" lIns="0" tIns="0" rIns="0" bIns="0" rtlCol="0" anchor="ctr">
            <a:normAutofit/>
          </a:bodyPr>
          <a:lstStyle/>
          <a:p>
            <a:pPr marL="0" indent="0">
              <a:buNone/>
            </a:pPr>
            <a:r>
              <a:rPr lang="en-US" sz="1280" b="1" dirty="0">
                <a:solidFill>
                  <a:srgbClr val="7C3AED"/>
                </a:solidFill>
              </a:rPr>
              <a:t>Log ve Hata Analizi</a:t>
            </a:r>
            <a:endParaRPr lang="en-US" sz="1280" dirty="0"/>
          </a:p>
        </p:txBody>
      </p:sp>
      <p:sp>
        <p:nvSpPr>
          <p:cNvPr id="10" name="Text 8"/>
          <p:cNvSpPr/>
          <p:nvPr/>
        </p:nvSpPr>
        <p:spPr>
          <a:xfrm>
            <a:off x="731520" y="2971800"/>
            <a:ext cx="3337560" cy="12344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Rest Assured, JUnit veya mock testleri için başlangıç kodu üretilebilir.</a:t>
            </a:r>
            <a:endParaRPr lang="en-US" sz="1250" dirty="0"/>
          </a:p>
        </p:txBody>
      </p:sp>
      <p:sp>
        <p:nvSpPr>
          <p:cNvPr id="11" name="Text 9"/>
          <p:cNvSpPr/>
          <p:nvPr/>
        </p:nvSpPr>
        <p:spPr>
          <a:xfrm>
            <a:off x="850392" y="3090672"/>
            <a:ext cx="3099816" cy="210312"/>
          </a:xfrm>
          <a:prstGeom prst="rect">
            <a:avLst/>
          </a:prstGeom>
          <a:noFill/>
          <a:ln/>
        </p:spPr>
        <p:txBody>
          <a:bodyPr wrap="square" lIns="0" tIns="0" rIns="0" bIns="0" rtlCol="0" anchor="ctr">
            <a:normAutofit/>
          </a:bodyPr>
          <a:lstStyle/>
          <a:p>
            <a:pPr marL="0" indent="0">
              <a:buNone/>
            </a:pPr>
            <a:r>
              <a:rPr lang="en-US" sz="1280" b="1" dirty="0">
                <a:solidFill>
                  <a:srgbClr val="D97706"/>
                </a:solidFill>
              </a:rPr>
              <a:t>Kod Taslağı</a:t>
            </a:r>
            <a:endParaRPr lang="en-US" sz="1280" dirty="0"/>
          </a:p>
        </p:txBody>
      </p:sp>
      <p:sp>
        <p:nvSpPr>
          <p:cNvPr id="12" name="Text 10"/>
          <p:cNvSpPr/>
          <p:nvPr/>
        </p:nvSpPr>
        <p:spPr>
          <a:xfrm>
            <a:off x="4343400" y="2971800"/>
            <a:ext cx="3337560" cy="12344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a:solidFill>
                  <a:srgbClr val="475569"/>
                </a:solidFill>
              </a:rPr>
              <a:t>Hangi modüllerin daha kritik olduğu analiz edilip regresyon seti önceliklendirilebilir.</a:t>
            </a:r>
            <a:endParaRPr lang="en-US" sz="1250" dirty="0"/>
          </a:p>
        </p:txBody>
      </p:sp>
      <p:sp>
        <p:nvSpPr>
          <p:cNvPr id="13" name="Text 11"/>
          <p:cNvSpPr/>
          <p:nvPr/>
        </p:nvSpPr>
        <p:spPr>
          <a:xfrm>
            <a:off x="4462272" y="3090672"/>
            <a:ext cx="3099816" cy="210312"/>
          </a:xfrm>
          <a:prstGeom prst="rect">
            <a:avLst/>
          </a:prstGeom>
          <a:noFill/>
          <a:ln/>
        </p:spPr>
        <p:txBody>
          <a:bodyPr wrap="square" lIns="0" tIns="0" rIns="0" bIns="0" rtlCol="0" anchor="ctr">
            <a:normAutofit/>
          </a:bodyPr>
          <a:lstStyle/>
          <a:p>
            <a:pPr marL="0" indent="0">
              <a:buNone/>
            </a:pPr>
            <a:r>
              <a:rPr lang="en-US" sz="1280" b="1" dirty="0">
                <a:solidFill>
                  <a:srgbClr val="16A34A"/>
                </a:solidFill>
              </a:rPr>
              <a:t>Risk Önceliklendirme</a:t>
            </a:r>
            <a:endParaRPr lang="en-US" sz="1280" dirty="0"/>
          </a:p>
        </p:txBody>
      </p:sp>
      <p:sp>
        <p:nvSpPr>
          <p:cNvPr id="14" name="Text 12"/>
          <p:cNvSpPr/>
          <p:nvPr/>
        </p:nvSpPr>
        <p:spPr>
          <a:xfrm>
            <a:off x="7955280" y="2971800"/>
            <a:ext cx="3337560" cy="1234440"/>
          </a:xfrm>
          <a:prstGeom prst="rect">
            <a:avLst/>
          </a:prstGeom>
          <a:solidFill>
            <a:srgbClr val="FFFFFF"/>
          </a:solidFill>
          <a:ln w="11430">
            <a:solidFill>
              <a:srgbClr val="D7DEE8"/>
            </a:solidFill>
          </a:ln>
        </p:spPr>
        <p:txBody>
          <a:bodyPr wrap="square" lIns="1651" tIns="1651" rIns="1651" bIns="1651" rtlCol="0" anchor="ctr">
            <a:normAutofit/>
          </a:bodyPr>
          <a:lstStyle/>
          <a:p>
            <a:pPr marL="0" indent="0" algn="ctr">
              <a:buNone/>
            </a:pPr>
            <a:r>
              <a:rPr lang="en-US" sz="1250" dirty="0" err="1">
                <a:solidFill>
                  <a:srgbClr val="475569"/>
                </a:solidFill>
              </a:rPr>
              <a:t>Eksik</a:t>
            </a:r>
            <a:r>
              <a:rPr lang="en-US" sz="1250" dirty="0">
                <a:solidFill>
                  <a:srgbClr val="475569"/>
                </a:solidFill>
              </a:rPr>
              <a:t> test alanları, tekrar </a:t>
            </a:r>
            <a:r>
              <a:rPr lang="en-US" sz="1250" dirty="0" err="1">
                <a:solidFill>
                  <a:srgbClr val="475569"/>
                </a:solidFill>
              </a:rPr>
              <a:t>eden</a:t>
            </a:r>
            <a:r>
              <a:rPr lang="en-US" sz="1250" dirty="0">
                <a:solidFill>
                  <a:srgbClr val="475569"/>
                </a:solidFill>
              </a:rPr>
              <a:t> </a:t>
            </a:r>
            <a:r>
              <a:rPr lang="en-US" sz="1250" dirty="0" err="1">
                <a:solidFill>
                  <a:srgbClr val="475569"/>
                </a:solidFill>
              </a:rPr>
              <a:t>testler</a:t>
            </a:r>
            <a:r>
              <a:rPr lang="tr-TR" sz="1250" dirty="0">
                <a:solidFill>
                  <a:srgbClr val="475569"/>
                </a:solidFill>
              </a:rPr>
              <a:t>i</a:t>
            </a:r>
            <a:r>
              <a:rPr lang="en-US" sz="1250" dirty="0">
                <a:solidFill>
                  <a:srgbClr val="475569"/>
                </a:solidFill>
              </a:rPr>
              <a:t> fark edilebilir.</a:t>
            </a:r>
            <a:endParaRPr lang="en-US" sz="1250" dirty="0"/>
          </a:p>
        </p:txBody>
      </p:sp>
      <p:sp>
        <p:nvSpPr>
          <p:cNvPr id="15" name="Text 13"/>
          <p:cNvSpPr/>
          <p:nvPr/>
        </p:nvSpPr>
        <p:spPr>
          <a:xfrm>
            <a:off x="8074152" y="3090672"/>
            <a:ext cx="3099816" cy="210312"/>
          </a:xfrm>
          <a:prstGeom prst="rect">
            <a:avLst/>
          </a:prstGeom>
          <a:noFill/>
          <a:ln/>
        </p:spPr>
        <p:txBody>
          <a:bodyPr wrap="square" lIns="0" tIns="0" rIns="0" bIns="0" rtlCol="0" anchor="ctr">
            <a:normAutofit/>
          </a:bodyPr>
          <a:lstStyle/>
          <a:p>
            <a:pPr marL="0" indent="0">
              <a:buNone/>
            </a:pPr>
            <a:r>
              <a:rPr lang="en-US" sz="1280" b="1" dirty="0">
                <a:solidFill>
                  <a:srgbClr val="0891B2"/>
                </a:solidFill>
              </a:rPr>
              <a:t>Coverage İncelemesi</a:t>
            </a:r>
            <a:endParaRPr lang="en-US" sz="1280" dirty="0"/>
          </a:p>
        </p:txBody>
      </p:sp>
      <p:sp>
        <p:nvSpPr>
          <p:cNvPr id="16" name="Text 14"/>
          <p:cNvSpPr/>
          <p:nvPr/>
        </p:nvSpPr>
        <p:spPr>
          <a:xfrm>
            <a:off x="1005840" y="5349240"/>
            <a:ext cx="10195560" cy="420624"/>
          </a:xfrm>
          <a:prstGeom prst="rect">
            <a:avLst/>
          </a:prstGeom>
          <a:noFill/>
          <a:ln/>
        </p:spPr>
        <p:txBody>
          <a:bodyPr wrap="square" lIns="635" tIns="635" rIns="635" bIns="635" rtlCol="0" anchor="t">
            <a:normAutofit/>
          </a:bodyPr>
          <a:lstStyle/>
          <a:p>
            <a:pPr marL="0" indent="0" algn="ctr">
              <a:buNone/>
            </a:pPr>
            <a:r>
              <a:rPr lang="en-US" sz="1340" dirty="0">
                <a:solidFill>
                  <a:srgbClr val="0F172A"/>
                </a:solidFill>
              </a:rPr>
              <a:t>Not: AI çıktıları doğrudan doğru kabul edilmemeli; gereksinim, güvenlik ve gerçek çalışma sonucu ile doğrulanmalıdır.</a:t>
            </a:r>
            <a:endParaRPr lang="en-US" sz="134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6" name="Text 4"/>
          <p:cNvSpPr/>
          <p:nvPr/>
        </p:nvSpPr>
        <p:spPr>
          <a:xfrm>
            <a:off x="2621280" y="1916083"/>
            <a:ext cx="6949440" cy="658368"/>
          </a:xfrm>
          <a:prstGeom prst="rect">
            <a:avLst/>
          </a:prstGeom>
          <a:solidFill>
            <a:srgbClr val="0F172A"/>
          </a:solidFill>
          <a:ln>
            <a:solidFill>
              <a:srgbClr val="0F172A"/>
            </a:solidFill>
          </a:ln>
        </p:spPr>
        <p:txBody>
          <a:bodyPr wrap="square" lIns="381" tIns="381" rIns="381" bIns="381" rtlCol="0" anchor="ctr"/>
          <a:lstStyle/>
          <a:p>
            <a:pPr marL="0" indent="0" algn="ctr">
              <a:buNone/>
            </a:pPr>
            <a:r>
              <a:rPr lang="en-US" sz="3200" b="1" dirty="0">
                <a:solidFill>
                  <a:srgbClr val="FFFFFF"/>
                </a:solidFill>
              </a:rPr>
              <a:t>Teşekkürler</a:t>
            </a:r>
            <a:endParaRPr lang="en-US" sz="3200" dirty="0"/>
          </a:p>
        </p:txBody>
      </p:sp>
      <p:sp>
        <p:nvSpPr>
          <p:cNvPr id="7" name="Text 5"/>
          <p:cNvSpPr/>
          <p:nvPr/>
        </p:nvSpPr>
        <p:spPr>
          <a:xfrm>
            <a:off x="1827414" y="3459757"/>
            <a:ext cx="8537172" cy="292608"/>
          </a:xfrm>
          <a:prstGeom prst="rect">
            <a:avLst/>
          </a:prstGeom>
          <a:noFill/>
          <a:ln/>
        </p:spPr>
        <p:txBody>
          <a:bodyPr wrap="square" lIns="635" tIns="635" rIns="635" bIns="635" rtlCol="0" anchor="t">
            <a:normAutofit fontScale="92500" lnSpcReduction="20000"/>
          </a:bodyPr>
          <a:lstStyle/>
          <a:p>
            <a:pPr marL="0" indent="0" algn="ctr">
              <a:buNone/>
            </a:pPr>
            <a:r>
              <a:rPr lang="en-US" sz="2400" b="1" dirty="0">
                <a:solidFill>
                  <a:srgbClr val="2563EB"/>
                </a:solidFill>
              </a:rPr>
              <a:t>Sorular?</a:t>
            </a:r>
            <a:endParaRPr lang="en-US" sz="2400" dirty="0"/>
          </a:p>
        </p:txBody>
      </p:sp>
      <p:sp>
        <p:nvSpPr>
          <p:cNvPr id="8" name="Text 6"/>
          <p:cNvSpPr/>
          <p:nvPr/>
        </p:nvSpPr>
        <p:spPr>
          <a:xfrm>
            <a:off x="685800" y="6236208"/>
            <a:ext cx="10789920" cy="164592"/>
          </a:xfrm>
          <a:prstGeom prst="rect">
            <a:avLst/>
          </a:prstGeom>
          <a:noFill/>
          <a:ln/>
        </p:spPr>
        <p:txBody>
          <a:bodyPr wrap="square" lIns="635" tIns="635" rIns="635" bIns="635" rtlCol="0" anchor="t">
            <a:normAutofit/>
          </a:bodyPr>
          <a:lstStyle/>
          <a:p>
            <a:pPr marL="0" indent="0" algn="ctr">
              <a:buNone/>
            </a:pPr>
            <a:r>
              <a:rPr lang="en-US" sz="730" dirty="0">
                <a:solidFill>
                  <a:srgbClr val="94A3B8"/>
                </a:solidFill>
              </a:rPr>
              <a:t>Kaynaklar: rest-assured.io · jsonplaceholder.typicode.com · junit.org · maven.apache.org/surefire</a:t>
            </a:r>
            <a:endParaRPr lang="en-US" sz="730" dirty="0"/>
          </a:p>
        </p:txBody>
      </p:sp>
      <p:sp>
        <p:nvSpPr>
          <p:cNvPr id="25" name="Slide Number Placeholder 0"/>
          <p:cNvSpPr>
            <a:spLocks noGrp="1"/>
          </p:cNvSpPr>
          <p:nvPr>
            <p:ph type="sldNum" sz="quarter" idx="4294967295"/>
          </p:nvPr>
        </p:nvSpPr>
        <p:spPr>
          <a:xfrm>
            <a:off x="1156716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1935</Words>
  <Application>Microsoft Office PowerPoint</Application>
  <PresentationFormat>Geniş ekran</PresentationFormat>
  <Paragraphs>256</Paragraphs>
  <Slides>13</Slides>
  <Notes>13</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13</vt:i4>
      </vt:variant>
    </vt:vector>
  </HeadingPairs>
  <TitlesOfParts>
    <vt:vector size="18" baseType="lpstr">
      <vt:lpstr>Aptos</vt:lpstr>
      <vt:lpstr>Aptos Display</vt:lpstr>
      <vt:lpstr>Arial</vt:lpstr>
      <vt:lpstr>Consolas</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 Assured ile API Regresyon Testi</dc:title>
  <dc:subject>Yazılım Test Mühendisliği - Rest Assured</dc:subject>
  <dc:creator>OpenAI</dc:creator>
  <cp:lastModifiedBy>EREN OZER</cp:lastModifiedBy>
  <cp:revision>4</cp:revision>
  <dcterms:created xsi:type="dcterms:W3CDTF">2026-05-19T12:30:57Z</dcterms:created>
  <dcterms:modified xsi:type="dcterms:W3CDTF">2026-05-22T15:22:35Z</dcterms:modified>
</cp:coreProperties>
</file>